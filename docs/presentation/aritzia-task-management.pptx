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API-equivalent cost, USD</c:v>
                </c:pt>
              </c:strCache>
            </c:strRef>
          </c:tx>
          <c:spPr>
            <a:solidFill>
              <a:srgbClr val="1A1A1A"/>
            </a:solidFill>
            <a:effectLst/>
          </c:spPr>
          <c:invertIfNegative val="0"/>
          <c:dLbls>
            <c:numFmt formatCode="$0.00" sourceLinked="0"/>
            <c:txPr>
              <a:bodyPr/>
              <a:lstStyle/>
              <a:p>
                <a:pPr>
                  <a:defRPr b="0" i="0" strike="noStrike" sz="1100" u="none">
                    <a:solidFill>
                      <a:srgbClr val="1A1A1A"/>
                    </a:solidFill>
                    <a:latin typeface="Arial"/>
                  </a:defRPr>
                </a:pPr>
              </a:p>
            </c:txPr>
            <c:showLegendKey val="0"/>
            <c:showVal val="1"/>
            <c:showCatName val="0"/>
            <c:showSerName val="0"/>
            <c:showPercent val="0"/>
            <c:showBubbleSize val="0"/>
            <c:showLeaderLines val="0"/>
          </c:dLbls>
          <c:dPt>
            <c:idx val="0"/>
            <c:invertIfNegative val="0"/>
            <c:bubble3D val="0"/>
            <c:spPr>
              <a:solidFill>
                <a:srgbClr val="1A1A1A"/>
              </a:solidFill>
              <a:effectLst/>
            </c:spPr>
          </c:dPt>
          <c:dPt>
            <c:idx val="1"/>
            <c:invertIfNegative val="0"/>
            <c:bubble3D val="0"/>
            <c:spPr>
              <a:solidFill>
                <a:srgbClr val="1A1A1A"/>
              </a:solidFill>
              <a:effectLst/>
            </c:spPr>
          </c:dPt>
          <c:dPt>
            <c:idx val="2"/>
            <c:invertIfNegative val="0"/>
            <c:bubble3D val="0"/>
            <c:spPr>
              <a:solidFill>
                <a:srgbClr val="1A1A1A"/>
              </a:solidFill>
              <a:effectLst/>
            </c:spPr>
          </c:dPt>
          <c:dPt>
            <c:idx val="3"/>
            <c:invertIfNegative val="0"/>
            <c:bubble3D val="0"/>
            <c:spPr>
              <a:solidFill>
                <a:srgbClr val="1A1A1A"/>
              </a:solidFill>
              <a:effectLst/>
            </c:spPr>
          </c:dPt>
          <c:dPt>
            <c:idx val="4"/>
            <c:invertIfNegative val="0"/>
            <c:bubble3D val="0"/>
            <c:spPr>
              <a:solidFill>
                <a:srgbClr val="1A1A1A"/>
              </a:solidFill>
              <a:effectLst/>
            </c:spPr>
          </c:dPt>
          <c:dPt>
            <c:idx val="5"/>
            <c:invertIfNegative val="0"/>
            <c:bubble3D val="0"/>
            <c:spPr>
              <a:solidFill>
                <a:srgbClr val="1A1A1A"/>
              </a:solidFill>
              <a:effectLst/>
            </c:spPr>
          </c:dPt>
          <c:dPt>
            <c:idx val="6"/>
            <c:invertIfNegative val="0"/>
            <c:bubble3D val="0"/>
            <c:spPr>
              <a:solidFill>
                <a:srgbClr val="1A1A1A"/>
              </a:solidFill>
              <a:effectLst/>
            </c:spPr>
          </c:dPt>
          <c:dPt>
            <c:idx val="7"/>
            <c:invertIfNegative val="0"/>
            <c:bubble3D val="0"/>
            <c:spPr>
              <a:solidFill>
                <a:srgbClr val="E8630A"/>
              </a:solidFill>
              <a:effectLst/>
            </c:spPr>
          </c:dPt>
          <c:dPt>
            <c:idx val="8"/>
            <c:invertIfNegative val="0"/>
            <c:bubble3D val="0"/>
            <c:spPr>
              <a:solidFill>
                <a:srgbClr val="1A1A1A"/>
              </a:solidFill>
              <a:effectLst/>
            </c:spPr>
          </c:dPt>
          <c:dPt>
            <c:idx val="9"/>
            <c:invertIfNegative val="0"/>
            <c:bubble3D val="0"/>
            <c:spPr>
              <a:solidFill>
                <a:srgbClr val="1A1A1A"/>
              </a:solidFill>
              <a:effectLst/>
            </c:spPr>
          </c:dPt>
          <c:dPt>
            <c:idx val="10"/>
            <c:invertIfNegative val="0"/>
            <c:bubble3D val="0"/>
            <c:spPr>
              <a:solidFill>
                <a:srgbClr val="1A1A1A"/>
              </a:solidFill>
              <a:effectLst/>
            </c:spPr>
          </c:dPt>
          <c:cat>
            <c:multiLvlStrRef>
              <c:f>Sheet1!$A$2:$A$12</c:f>
              <c:multiLvlStrCache>
                <c:ptCount val="11"/>
                <c:lvl>
                  <c:pt idx="0">
                    <c:v>T-01*</c:v>
                  </c:pt>
                  <c:pt idx="1">
                    <c:v>T-02</c:v>
                  </c:pt>
                  <c:pt idx="2">
                    <c:v>T-03</c:v>
                  </c:pt>
                  <c:pt idx="3">
                    <c:v>T-06</c:v>
                  </c:pt>
                  <c:pt idx="4">
                    <c:v>T-04</c:v>
                  </c:pt>
                  <c:pt idx="5">
                    <c:v>T-07</c:v>
                  </c:pt>
                  <c:pt idx="6">
                    <c:v>T-05</c:v>
                  </c:pt>
                  <c:pt idx="7">
                    <c:v>T-08</c:v>
                  </c:pt>
                  <c:pt idx="8">
                    <c:v>T-09</c:v>
                  </c:pt>
                  <c:pt idx="9">
                    <c:v>T-10</c:v>
                  </c:pt>
                  <c:pt idx="10">
                    <c:v>T-11</c:v>
                  </c:pt>
                </c:lvl>
              </c:multiLvlStrCache>
            </c:multiLvlStrRef>
          </c:cat>
          <c:val>
            <c:numRef>
              <c:f>Sheet1!$B$2:$B$12</c:f>
              <c:numCache>
                <c:formatCode>General</c:formatCode>
                <c:ptCount val="11"/>
                <c:pt idx="0">
                  <c:v>14.7</c:v>
                </c:pt>
                <c:pt idx="1">
                  <c:v>11.33</c:v>
                </c:pt>
                <c:pt idx="2">
                  <c:v>8.32</c:v>
                </c:pt>
                <c:pt idx="3">
                  <c:v>7.06</c:v>
                </c:pt>
                <c:pt idx="4">
                  <c:v>5.93</c:v>
                </c:pt>
                <c:pt idx="5">
                  <c:v>3.27</c:v>
                </c:pt>
                <c:pt idx="6">
                  <c:v>6.02</c:v>
                </c:pt>
                <c:pt idx="7">
                  <c:v>7.82</c:v>
                </c:pt>
                <c:pt idx="8">
                  <c:v>6.61</c:v>
                </c:pt>
                <c:pt idx="9">
                  <c:v>5.19</c:v>
                </c:pt>
                <c:pt idx="10">
                  <c:v>3.71</c:v>
                </c:pt>
              </c:numCache>
            </c:numRef>
          </c:val>
        </c:ser>
        <c:dLbls>
          <c:numFmt formatCode="$0.00" sourceLinked="0"/>
          <c:txPr>
            <a:bodyPr/>
            <a:lstStyle/>
            <a:p>
              <a:pPr>
                <a:defRPr b="0" i="0" strike="noStrike" sz="1100" u="none">
                  <a:solidFill>
                    <a:srgbClr val="1A1A1A"/>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5555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5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A8A8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deliverables: the application is the evidence, this is the argument. Everything I claim in the next eighteen minutes is a grep away in the repo, and I will show one of those greps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 the top risk head-on before it is asked (PROJECT.md section 8). The argument: instrumentation around a small app is cheap and auditable; architecture around a small app is expensive and silent. I spent on the first and refused the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two or three, not all seven. The point is that every absence has a sentence attached. The monorepo line is the one an engineering panel will push on, so the next slide is the seam.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Naming the seam and declining to cut it is the decision. Respecting the boundary costs nothing today; adding Turborepo would be build orchestration in service of one consumer, which is exactly the over-engineering the top risk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PROJECT.md section 2 and it is the deck's spine. If you remember one slide, this is it. Sections 3 and 4 walk the rows that carry the most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build tasks in six waves of concurrent agents, file ownership per task so three agents could write at once without merge conflicts. The roles matter because a Builder that edits the spec to match what it built destroys the only independent measure of correctness.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grep live in the terminal. It returns the criterion, the test, the reducer action that implements the rollback and the ADR that decided it. Then open the live URL, add a task, delete it, and show the rollback under the deployed rate limit: the fixed window allows 5 requests per 10 seconds, so six quick deletes produce a visible 429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ADR made the Route Handler the upstream. A critic pass found that then nothing could legitimately present the key: the browser is forbidden from holding it, so every request would be a 401 by construction. B-01, fixed in the spec before a line of code existed. That is what the critic pass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this is the one secret in the app that could actually leak, and it is handled to production standard. The sessionStorage token is the other secret, and it is handled as the brief specifies, which section 4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lib/api/retry.ts is pure: the jitter draw is injected, so tests get an identical schedule every run (AC-API-10). Retry-After and backoff are combined with max, not added, so a server asking for a long pause does not also inherit the client's full backoff on top. Token bucket would be the production limiter; fixed window was chosen for legibility and the trade-off recorded.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critic pass corrected where the risk was: the plan said 'restoring the deleted task to its original index' and that is automatic; the real risk is a server-assigned id reordering the row. Contract fixed at T-01. Double-submit is guarded, in-flight state is announced in a live region, not spinner-only.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principle: buy anything security-critical and boring (session handling, accessible primitives, validators). Build only where the build is genuinely small and the mechanism is what is being assessed.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ADR-0004 and ADR-0002. The honest version: on any other project the reasoning is not close, and I would buy both. The value of writing the decline down is that the flip conditions are concrete, so the day one of them arrives the purchase is obvious rather than a debate.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ADR-0005. Sharp edge worth naming: middleware cannot protect these routes, because sessionStorage is never sent to the server. That is not an App Router limitation; it is the direct consequence of the storage the brief specifies, and the clearest illustration of why production auth uses an HttpOnly cookie.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docs/LEDGER.md, one row per session, hand-editing of measured columns refused by the script. The T-01 loop is the interesting number: a Stop hook rewrote the ledger row every turn, each push redeployed and re-ran CI, each event woke the session. 75 chore commits between 20:02 and 02:49. The review caught it, the hook moved to SessionEnd, and the next ten tasks averaged under seven dollars.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T-02 is the most expensive real task and it is the auth provider plus route guards, 49 tests. T-07, the retry client, is the cheapest at $3.27 and it is the most talked-about code in this deck. Specification quality, not problem difficulty, is what the cost tracks.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populated column that measures nothing is worse evidence than an empty one that says why. If asked what I would change: run one wave with the diff actually read, count, and fill the column for those rows. The instrument exists; the operator time did not, and the ledger says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the right is a flip condition already written in an ADR. The left column is the P2 list from PROJECT.md section 7, in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the grep. Suggested first question to volunteer if none comes: 'What went wrong?' Answer: the T-01 ledger loop and B-01, both caught by review, both recorded.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731520" y="1463040"/>
            <a:ext cx="9814255" cy="1645920"/>
          </a:xfrm>
          <a:prstGeom prst="rect">
            <a:avLst/>
          </a:prstGeom>
          <a:noFill/>
          <a:ln/>
        </p:spPr>
        <p:txBody>
          <a:bodyPr wrap="square" lIns="0" tIns="0" rIns="0" bIns="0" rtlCol="0" anchor="b"/>
          <a:lstStyle/>
          <a:p>
            <a:pPr indent="0" marL="0">
              <a:buNone/>
            </a:pPr>
            <a:r>
              <a:rPr lang="en-US" sz="4400" b="1" dirty="0">
                <a:solidFill>
                  <a:srgbClr val="FFFFFF"/>
                </a:solidFill>
                <a:latin typeface="Arial" pitchFamily="34" charset="0"/>
                <a:ea typeface="Arial" pitchFamily="34" charset="-122"/>
                <a:cs typeface="Arial" pitchFamily="34" charset="-120"/>
              </a:rPr>
              <a:t>A to-do list, built like a checkout flow</a:t>
            </a:r>
            <a:endParaRPr lang="en-US" sz="4400" dirty="0"/>
          </a:p>
        </p:txBody>
      </p:sp>
      <p:sp>
        <p:nvSpPr>
          <p:cNvPr id="3" name="Text 1"/>
          <p:cNvSpPr txBox="1"/>
          <p:nvPr/>
        </p:nvSpPr>
        <p:spPr>
          <a:xfrm>
            <a:off x="731520" y="3246120"/>
            <a:ext cx="8899855" cy="822960"/>
          </a:xfrm>
          <a:prstGeom prst="rect">
            <a:avLst/>
          </a:prstGeom>
          <a:noFill/>
          <a:ln/>
        </p:spPr>
        <p:txBody>
          <a:bodyPr wrap="square" lIns="0" tIns="0" rIns="0" bIns="0" rtlCol="0" anchor="t"/>
          <a:lstStyle/>
          <a:p>
            <a:pPr indent="0" marL="0">
              <a:buNone/>
            </a:pPr>
            <a:r>
              <a:rPr lang="en-US" sz="1800" dirty="0">
                <a:solidFill>
                  <a:srgbClr val="B8B8B8"/>
                </a:solidFill>
                <a:latin typeface="Arial" pitchFamily="34" charset="0"/>
                <a:ea typeface="Arial" pitchFamily="34" charset="-122"/>
                <a:cs typeface="Arial" pitchFamily="34" charset="-120"/>
              </a:rPr>
              <a:t>Senior Developer technical case · approach, rationale, and the AI workflow that produced it</a:t>
            </a:r>
            <a:endParaRPr lang="en-US" sz="1800" dirty="0"/>
          </a:p>
        </p:txBody>
      </p:sp>
      <p:sp>
        <p:nvSpPr>
          <p:cNvPr id="4" name="Text 2"/>
          <p:cNvSpPr txBox="1"/>
          <p:nvPr/>
        </p:nvSpPr>
        <p:spPr>
          <a:xfrm>
            <a:off x="731520" y="5120640"/>
            <a:ext cx="10728655" cy="1097280"/>
          </a:xfrm>
          <a:prstGeom prst="rect">
            <a:avLst/>
          </a:prstGeom>
          <a:noFill/>
          <a:ln/>
        </p:spPr>
        <p:txBody>
          <a:bodyPr wrap="square" lIns="0" tIns="0" rIns="0" bIns="0" rtlCol="0" anchor="b"/>
          <a:lstStyle/>
          <a:p>
            <a:pPr indent="0" marL="0">
              <a:spcAft>
                <a:spcPts val="400"/>
              </a:spcAft>
              <a:buNone/>
            </a:pPr>
            <a:r>
              <a:rPr lang="en-US" sz="1300" dirty="0">
                <a:solidFill>
                  <a:srgbClr val="FFFFFF"/>
                </a:solidFill>
                <a:latin typeface="Arial" pitchFamily="34" charset="0"/>
                <a:ea typeface="Arial" pitchFamily="34" charset="-122"/>
                <a:cs typeface="Arial" pitchFamily="34" charset="-120"/>
              </a:rPr>
              <a:t>Justin O'Halloran · 2 September 2026</a:t>
            </a:r>
            <a:endParaRPr lang="en-US" sz="1300" dirty="0"/>
          </a:p>
          <a:p>
            <a:pPr indent="0" marL="0">
              <a:spcAft>
                <a:spcPts val="400"/>
              </a:spcAft>
              <a:buNone/>
            </a:pPr>
            <a:r>
              <a:rPr lang="en-US" sz="1300" dirty="0">
                <a:solidFill>
                  <a:srgbClr val="B8B8B8"/>
                </a:solidFill>
                <a:latin typeface="Courier New" pitchFamily="34" charset="0"/>
                <a:ea typeface="Courier New" pitchFamily="34" charset="-122"/>
                <a:cs typeface="Courier New" pitchFamily="34" charset="-120"/>
              </a:rPr>
              <a:t>github.com/Justinohallo/aritzia-task-management</a:t>
            </a:r>
            <a:endParaRPr lang="en-US" sz="1300" dirty="0"/>
          </a:p>
          <a:p>
            <a:pPr indent="0" marL="0">
              <a:spcAft>
                <a:spcPts val="400"/>
              </a:spcAft>
              <a:buNone/>
            </a:pPr>
            <a:r>
              <a:rPr lang="en-US" sz="1300" dirty="0">
                <a:solidFill>
                  <a:srgbClr val="B8B8B8"/>
                </a:solidFill>
                <a:latin typeface="Courier New" pitchFamily="34" charset="0"/>
                <a:ea typeface="Courier New" pitchFamily="34" charset="-122"/>
                <a:cs typeface="Courier New" pitchFamily="34" charset="-120"/>
              </a:rPr>
              <a:t>aritzia-task-management.vercel.app</a:t>
            </a:r>
            <a:endParaRPr lang="en-US" sz="1300" dirty="0"/>
          </a:p>
        </p:txBody>
      </p:sp>
      <p:sp>
        <p:nvSpPr>
          <p:cNvPr id="5" name="Text 3"/>
          <p:cNvSpPr txBox="1"/>
          <p:nvPr/>
        </p:nvSpPr>
        <p:spPr>
          <a:xfrm>
            <a:off x="10088575" y="6355080"/>
            <a:ext cx="1371600" cy="274320"/>
          </a:xfrm>
          <a:prstGeom prst="rect">
            <a:avLst/>
          </a:prstGeom>
          <a:noFill/>
          <a:ln/>
        </p:spPr>
        <p:txBody>
          <a:bodyPr wrap="square" lIns="0" tIns="0" rIns="0" bIns="0" rtlCol="0" anchor="t"/>
          <a:lstStyle/>
          <a:p>
            <a:pPr algn="r" indent="0" marL="0">
              <a:buNone/>
            </a:pPr>
            <a:r>
              <a:rPr lang="en-US" sz="1000" dirty="0">
                <a:solidFill>
                  <a:srgbClr val="B8B8B8"/>
                </a:solidFill>
                <a:latin typeface="Arial" pitchFamily="34" charset="0"/>
                <a:ea typeface="Arial" pitchFamily="34" charset="-122"/>
                <a:cs typeface="Arial" pitchFamily="34" charset="-120"/>
              </a:rPr>
              <a:t>1 / 19</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731520" y="411480"/>
            <a:ext cx="10728655" cy="274320"/>
          </a:xfrm>
          <a:prstGeom prst="rect">
            <a:avLst/>
          </a:prstGeom>
          <a:noFill/>
          <a:ln/>
        </p:spPr>
        <p:txBody>
          <a:bodyPr wrap="square" lIns="0" tIns="0" rIns="0" bIns="0" rtlCol="0" anchor="t"/>
          <a:lstStyle/>
          <a:p>
            <a:pPr indent="0" marL="0">
              <a:buNone/>
            </a:pPr>
            <a:r>
              <a:rPr lang="en-US" sz="1100" spc="200" kern="0" dirty="0">
                <a:solidFill>
                  <a:srgbClr val="8A8A8A"/>
                </a:solidFill>
                <a:latin typeface="Arial" pitchFamily="34" charset="0"/>
                <a:ea typeface="Arial" pitchFamily="34" charset="-122"/>
                <a:cs typeface="Arial" pitchFamily="34" charset="-120"/>
              </a:rPr>
              <a:t>1 · PROPORTIONALITY</a:t>
            </a:r>
            <a:endParaRPr lang="en-US" sz="1100" dirty="0"/>
          </a:p>
        </p:txBody>
      </p:sp>
      <p:sp>
        <p:nvSpPr>
          <p:cNvPr id="3" name="Text 1"/>
          <p:cNvSpPr txBox="1"/>
          <p:nvPr/>
        </p:nvSpPr>
        <p:spPr>
          <a:xfrm>
            <a:off x="731520" y="1005840"/>
            <a:ext cx="10728655" cy="1188720"/>
          </a:xfrm>
          <a:prstGeom prst="rect">
            <a:avLst/>
          </a:prstGeom>
          <a:noFill/>
          <a:ln/>
        </p:spPr>
        <p:txBody>
          <a:bodyPr wrap="square" lIns="0" tIns="0" rIns="0" bIns="0" rtlCol="0" anchor="b"/>
          <a:lstStyle/>
          <a:p>
            <a:pPr indent="0" marL="0">
              <a:buNone/>
            </a:pPr>
            <a:r>
              <a:rPr lang="en-US" sz="3400" b="1" dirty="0">
                <a:solidFill>
                  <a:srgbClr val="1A1A1A"/>
                </a:solidFill>
                <a:latin typeface="Arial" pitchFamily="34" charset="0"/>
                <a:ea typeface="Arial" pitchFamily="34" charset="-122"/>
                <a:cs typeface="Arial" pitchFamily="34" charset="-120"/>
              </a:rPr>
              <a:t>Yes. This is a lot of process for a to-do list.</a:t>
            </a:r>
            <a:endParaRPr lang="en-US" sz="3400" dirty="0"/>
          </a:p>
        </p:txBody>
      </p:sp>
      <p:sp>
        <p:nvSpPr>
          <p:cNvPr id="4" name="Text 2"/>
          <p:cNvSpPr txBox="1"/>
          <p:nvPr/>
        </p:nvSpPr>
        <p:spPr>
          <a:xfrm>
            <a:off x="731520" y="2468880"/>
            <a:ext cx="9357055" cy="3291840"/>
          </a:xfrm>
          <a:prstGeom prst="rect">
            <a:avLst/>
          </a:prstGeom>
          <a:noFill/>
          <a:ln/>
        </p:spPr>
        <p:txBody>
          <a:bodyPr wrap="square" lIns="0" tIns="0" rIns="0" bIns="0" rtlCol="0" anchor="t"/>
          <a:lstStyle/>
          <a:p>
            <a:pPr indent="0" marL="0">
              <a:spcAft>
                <a:spcPts val="1200"/>
              </a:spcAft>
              <a:buNone/>
            </a:pPr>
            <a:r>
              <a:rPr lang="en-US" sz="1600" dirty="0">
                <a:solidFill>
                  <a:srgbClr val="555555"/>
                </a:solidFill>
                <a:latin typeface="Arial" pitchFamily="34" charset="0"/>
                <a:ea typeface="Arial" pitchFamily="34" charset="-122"/>
                <a:cs typeface="Arial" pitchFamily="34" charset="-120"/>
              </a:rPr>
              <a:t>Nobody is impressed by a to-do list. What is being assessed is everything around it: was the brief read precisely, were the trade-offs named, do the tests test anything, was the scope sized right.</a:t>
            </a:r>
            <a:endParaRPr lang="en-US" sz="1600" dirty="0"/>
          </a:p>
          <a:p>
            <a:pPr indent="0" marL="0">
              <a:spcAft>
                <a:spcPts val="1200"/>
              </a:spcAft>
              <a:buNone/>
            </a:pPr>
            <a:r>
              <a:rPr lang="en-US" sz="1600" dirty="0">
                <a:solidFill>
                  <a:srgbClr val="555555"/>
                </a:solidFill>
                <a:latin typeface="Arial" pitchFamily="34" charset="0"/>
                <a:ea typeface="Arial" pitchFamily="34" charset="-122"/>
                <a:cs typeface="Arial" pitchFamily="34" charset="-120"/>
              </a:rPr>
              <a:t>So the process is the product, and it is deliberately over-instrumented in one direction only: traceability. Every line of the brief maps to a numbered criterion, a named test, and a commit.</a:t>
            </a:r>
            <a:endParaRPr lang="en-US" sz="1600" dirty="0"/>
          </a:p>
          <a:p>
            <a:pPr indent="0" marL="0">
              <a:spcAft>
                <a:spcPts val="1200"/>
              </a:spcAft>
              <a:buNone/>
            </a:pPr>
            <a:r>
              <a:rPr lang="en-US" sz="1600" b="1" dirty="0">
                <a:solidFill>
                  <a:srgbClr val="1A1A1A"/>
                </a:solidFill>
                <a:latin typeface="Arial" pitchFamily="34" charset="0"/>
                <a:ea typeface="Arial" pitchFamily="34" charset="-122"/>
                <a:cs typeface="Arial" pitchFamily="34" charset="-120"/>
              </a:rPr>
              <a:t>What it is not is over-built. The next slide is the list of things I declined.</a:t>
            </a:r>
            <a:endParaRPr lang="en-US" sz="1600" dirty="0"/>
          </a:p>
        </p:txBody>
      </p:sp>
      <p:sp>
        <p:nvSpPr>
          <p:cNvPr id="5" name="Text 3"/>
          <p:cNvSpPr txBox="1"/>
          <p:nvPr/>
        </p:nvSpPr>
        <p:spPr>
          <a:xfrm>
            <a:off x="10088575" y="6355080"/>
            <a:ext cx="1371600" cy="27432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2 / 19</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731520" y="411480"/>
            <a:ext cx="10728655" cy="274320"/>
          </a:xfrm>
          <a:prstGeom prst="rect">
            <a:avLst/>
          </a:prstGeom>
          <a:noFill/>
          <a:ln/>
        </p:spPr>
        <p:txBody>
          <a:bodyPr wrap="square" lIns="0" tIns="0" rIns="0" bIns="0" rtlCol="0" anchor="t"/>
          <a:lstStyle/>
          <a:p>
            <a:pPr indent="0" marL="0">
              <a:buNone/>
            </a:pPr>
            <a:r>
              <a:rPr lang="en-US" sz="1100" spc="200" kern="0" dirty="0">
                <a:solidFill>
                  <a:srgbClr val="8A8A8A"/>
                </a:solidFill>
                <a:latin typeface="Arial" pitchFamily="34" charset="0"/>
                <a:ea typeface="Arial" pitchFamily="34" charset="-122"/>
                <a:cs typeface="Arial" pitchFamily="34" charset="-120"/>
              </a:rPr>
              <a:t>1 · PROPORTIONALITY</a:t>
            </a:r>
            <a:endParaRPr lang="en-US" sz="1100" dirty="0"/>
          </a:p>
        </p:txBody>
      </p:sp>
      <p:sp>
        <p:nvSpPr>
          <p:cNvPr id="3" name="Text 1"/>
          <p:cNvSpPr txBox="1"/>
          <p:nvPr/>
        </p:nvSpPr>
        <p:spPr>
          <a:xfrm>
            <a:off x="731520" y="731520"/>
            <a:ext cx="10728655" cy="73152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The NOT list</a:t>
            </a:r>
            <a:endParaRPr lang="en-US" sz="3000" dirty="0"/>
          </a:p>
        </p:txBody>
      </p:sp>
      <p:sp>
        <p:nvSpPr>
          <p:cNvPr id="4" name="Text 2"/>
          <p:cNvSpPr txBox="1"/>
          <p:nvPr/>
        </p:nvSpPr>
        <p:spPr>
          <a:xfrm>
            <a:off x="731520" y="1554480"/>
            <a:ext cx="9357055" cy="685800"/>
          </a:xfrm>
          <a:prstGeom prst="rect">
            <a:avLst/>
          </a:prstGeom>
          <a:noFill/>
          <a:ln/>
        </p:spPr>
        <p:txBody>
          <a:bodyPr wrap="square" lIns="0" tIns="0" rIns="0" bIns="0" rtlCol="0" anchor="t"/>
          <a:lstStyle/>
          <a:p>
            <a:pPr indent="0" marL="0">
              <a:buNone/>
            </a:pPr>
            <a:r>
              <a:rPr lang="en-US" sz="1400" dirty="0">
                <a:solidFill>
                  <a:srgbClr val="555555"/>
                </a:solidFill>
                <a:latin typeface="Arial" pitchFamily="34" charset="0"/>
                <a:ea typeface="Arial" pitchFamily="34" charset="-122"/>
                <a:cs typeface="Arial" pitchFamily="34" charset="-120"/>
              </a:rPr>
              <a:t>Each cut is deliberate and defensible on request. The first two were chosen at intake; the rest are forced by the 48-hour appetite or absent from the brief.</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731520" y="2331720"/>
          <a:ext cx="10728655" cy="914400"/>
        </p:xfrm>
        <a:graphic>
          <a:graphicData uri="http://schemas.openxmlformats.org/drawingml/2006/table">
            <a:tbl>
              <a:tblPr/>
              <a:tblGrid>
                <a:gridCol w="3647743"/>
                <a:gridCol w="7080912"/>
              </a:tblGrid>
              <a:tr h="0">
                <a:tc>
                  <a:txBody>
                    <a:bodyPr/>
                    <a:lstStyle/>
                    <a:p>
                      <a:pPr indent="0" marL="0">
                        <a:buNone/>
                      </a:pPr>
                      <a:r>
                        <a:rPr lang="en-US" sz="1000" b="1" spc="100" kern="0" dirty="0">
                          <a:solidFill>
                            <a:srgbClr val="FFFFFF"/>
                          </a:solidFill>
                          <a:latin typeface="Arial" pitchFamily="34" charset="0"/>
                          <a:ea typeface="Arial" pitchFamily="34" charset="-122"/>
                          <a:cs typeface="Arial" pitchFamily="34" charset="-120"/>
                        </a:rPr>
                        <a:t>NOT DOING</a:t>
                      </a:r>
                      <a:endParaRPr lang="en-US" sz="10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A1A1A"/>
                    </a:solidFill>
                  </a:tcPr>
                </a:tc>
                <a:tc>
                  <a:txBody>
                    <a:bodyPr/>
                    <a:lstStyle/>
                    <a:p>
                      <a:pPr indent="0" marL="0">
                        <a:buNone/>
                      </a:pPr>
                      <a:r>
                        <a:rPr lang="en-US" sz="1000" b="1" spc="100" kern="0" dirty="0">
                          <a:solidFill>
                            <a:srgbClr val="FFFFFF"/>
                          </a:solidFill>
                          <a:latin typeface="Arial" pitchFamily="34" charset="0"/>
                          <a:ea typeface="Arial" pitchFamily="34" charset="-122"/>
                          <a:cs typeface="Arial" pitchFamily="34" charset="-120"/>
                        </a:rPr>
                        <a:t>WHY</a:t>
                      </a:r>
                      <a:endParaRPr lang="en-US" sz="10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A1A1A"/>
                    </a:solidFill>
                  </a:tcPr>
                </a:tc>
              </a:tr>
              <a:tr h="0">
                <a:tc>
                  <a:txBody>
                    <a:bodyPr/>
                    <a:lstStyle/>
                    <a:p>
                      <a:pPr indent="0" marL="0">
                        <a:buNone/>
                      </a:pPr>
                      <a:r>
                        <a:rPr lang="en-US" sz="1100" b="1" dirty="0">
                          <a:solidFill>
                            <a:srgbClr val="1A1A1A"/>
                          </a:solidFill>
                          <a:latin typeface="Arial" pitchFamily="34" charset="0"/>
                          <a:ea typeface="Arial" pitchFamily="34" charset="-122"/>
                          <a:cs typeface="Arial" pitchFamily="34" charset="-120"/>
                        </a:rPr>
                        <a:t>Real auth provider (Auth.js, OAuth, JWT)</a:t>
                      </a:r>
                      <a:endParaRPr lang="en-US" sz="11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Arial" pitchFamily="34" charset="0"/>
                          <a:ea typeface="Arial" pitchFamily="34" charset="-122"/>
                          <a:cs typeface="Arial" pitchFamily="34" charset="-120"/>
                        </a:rPr>
                        <a:t>The brief specifies sessionStorage. Substituting a real provider ignores an explicit instruction. Recorded as non-production in ADR-0005.</a:t>
                      </a:r>
                      <a:endParaRPr lang="en-US" sz="11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A1A1A"/>
                          </a:solidFill>
                          <a:latin typeface="Arial" pitchFamily="34" charset="0"/>
                          <a:ea typeface="Arial" pitchFamily="34" charset="-122"/>
                          <a:cs typeface="Arial" pitchFamily="34" charset="-120"/>
                        </a:rPr>
                        <a:t>Turborepo monorepo</a:t>
                      </a:r>
                      <a:endParaRPr lang="en-US" sz="11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5F5"/>
                    </a:solidFill>
                  </a:tcPr>
                </a:tc>
                <a:tc>
                  <a:txBody>
                    <a:bodyPr/>
                    <a:lstStyle/>
                    <a:p>
                      <a:pPr indent="0" marL="0">
                        <a:buNone/>
                      </a:pPr>
                      <a:r>
                        <a:rPr lang="en-US" sz="1100" dirty="0">
                          <a:solidFill>
                            <a:srgbClr val="555555"/>
                          </a:solidFill>
                          <a:latin typeface="Arial" pitchFamily="34" charset="0"/>
                          <a:ea typeface="Arial" pitchFamily="34" charset="-122"/>
                          <a:cs typeface="Arial" pitchFamily="34" charset="-120"/>
                        </a:rPr>
                        <a:t>A monorepo earns its cost at two deployables or two consumers of a shared package. There is one app. The seam is documented instead.</a:t>
                      </a:r>
                      <a:endParaRPr lang="en-US" sz="11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5F5"/>
                    </a:solidFill>
                  </a:tcPr>
                </a:tc>
              </a:tr>
              <a:tr h="0">
                <a:tc>
                  <a:txBody>
                    <a:bodyPr/>
                    <a:lstStyle/>
                    <a:p>
                      <a:pPr indent="0" marL="0">
                        <a:buNone/>
                      </a:pPr>
                      <a:r>
                        <a:rPr lang="en-US" sz="1100" b="1" dirty="0">
                          <a:solidFill>
                            <a:srgbClr val="1A1A1A"/>
                          </a:solidFill>
                          <a:latin typeface="Arial" pitchFamily="34" charset="0"/>
                          <a:ea typeface="Arial" pitchFamily="34" charset="-122"/>
                          <a:cs typeface="Arial" pitchFamily="34" charset="-120"/>
                        </a:rPr>
                        <a:t>Real backend or database</a:t>
                      </a:r>
                      <a:endParaRPr lang="en-US" sz="11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Arial" pitchFamily="34" charset="0"/>
                          <a:ea typeface="Arial" pitchFamily="34" charset="-122"/>
                          <a:cs typeface="Arial" pitchFamily="34" charset="-120"/>
                        </a:rPr>
                        <a:t>The brief specifies localStorage as the store. A database contradicts the stated persistence model.</a:t>
                      </a:r>
                      <a:endParaRPr lang="en-US" sz="11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A1A1A"/>
                          </a:solidFill>
                          <a:latin typeface="Arial" pitchFamily="34" charset="0"/>
                          <a:ea typeface="Arial" pitchFamily="34" charset="-122"/>
                          <a:cs typeface="Arial" pitchFamily="34" charset="-120"/>
                        </a:rPr>
                        <a:t>Multi-user, assignment, collaboration</a:t>
                      </a:r>
                      <a:endParaRPr lang="en-US" sz="11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5F5"/>
                    </a:solidFill>
                  </a:tcPr>
                </a:tc>
                <a:tc>
                  <a:txBody>
                    <a:bodyPr/>
                    <a:lstStyle/>
                    <a:p>
                      <a:pPr indent="0" marL="0">
                        <a:buNone/>
                      </a:pPr>
                      <a:r>
                        <a:rPr lang="en-US" sz="1100" dirty="0">
                          <a:solidFill>
                            <a:srgbClr val="555555"/>
                          </a:solidFill>
                          <a:latin typeface="Arial" pitchFamily="34" charset="0"/>
                          <a:ea typeface="Arial" pitchFamily="34" charset="-122"/>
                          <a:cs typeface="Arial" pitchFamily="34" charset="-120"/>
                        </a:rPr>
                        <a:t>Not in the brief. Invites sync, conflict and permission questions a 48-hour build cannot answer honestly.</a:t>
                      </a:r>
                      <a:endParaRPr lang="en-US" sz="11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5F5"/>
                    </a:solidFill>
                  </a:tcPr>
                </a:tc>
              </a:tr>
              <a:tr h="0">
                <a:tc>
                  <a:txBody>
                    <a:bodyPr/>
                    <a:lstStyle/>
                    <a:p>
                      <a:pPr indent="0" marL="0">
                        <a:buNone/>
                      </a:pPr>
                      <a:r>
                        <a:rPr lang="en-US" sz="1100" b="1" dirty="0">
                          <a:solidFill>
                            <a:srgbClr val="1A1A1A"/>
                          </a:solidFill>
                          <a:latin typeface="Arial" pitchFamily="34" charset="0"/>
                          <a:ea typeface="Arial" pitchFamily="34" charset="-122"/>
                          <a:cs typeface="Arial" pitchFamily="34" charset="-120"/>
                        </a:rPr>
                        <a:t>Edit, reorder, priority, tags, search</a:t>
                      </a:r>
                      <a:endParaRPr lang="en-US" sz="11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Arial" pitchFamily="34" charset="0"/>
                          <a:ea typeface="Arial" pitchFamily="34" charset="-122"/>
                          <a:cs typeface="Arial" pitchFamily="34" charset="-120"/>
                        </a:rPr>
                        <a:t>Not in the brief. Create, complete, delete are the stated operations.</a:t>
                      </a:r>
                      <a:endParaRPr lang="en-US" sz="11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A1A1A"/>
                          </a:solidFill>
                          <a:latin typeface="Arial" pitchFamily="34" charset="0"/>
                          <a:ea typeface="Arial" pitchFamily="34" charset="-122"/>
                          <a:cs typeface="Arial" pitchFamily="34" charset="-120"/>
                        </a:rPr>
                        <a:t>Admin app for user creation</a:t>
                      </a:r>
                      <a:endParaRPr lang="en-US" sz="11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5F5"/>
                    </a:solidFill>
                  </a:tcPr>
                </a:tc>
                <a:tc>
                  <a:txBody>
                    <a:bodyPr/>
                    <a:lstStyle/>
                    <a:p>
                      <a:pPr indent="0" marL="0">
                        <a:buNone/>
                      </a:pPr>
                      <a:r>
                        <a:rPr lang="en-US" sz="1100" dirty="0">
                          <a:solidFill>
                            <a:srgbClr val="555555"/>
                          </a:solidFill>
                          <a:latin typeface="Arial" pitchFamily="34" charset="0"/>
                          <a:ea typeface="Arial" pitchFamily="34" charset="-122"/>
                          <a:cs typeface="Arial" pitchFamily="34" charset="-120"/>
                        </a:rPr>
                        <a:t>Traced to a misreading of "user list" (AM-8). Would be graded as production security code.</a:t>
                      </a:r>
                      <a:endParaRPr lang="en-US" sz="11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5F5"/>
                    </a:solidFill>
                  </a:tcPr>
                </a:tc>
              </a:tr>
              <a:tr h="0">
                <a:tc>
                  <a:txBody>
                    <a:bodyPr/>
                    <a:lstStyle/>
                    <a:p>
                      <a:pPr indent="0" marL="0">
                        <a:buNone/>
                      </a:pPr>
                      <a:r>
                        <a:rPr lang="en-US" sz="1100" b="1" dirty="0">
                          <a:solidFill>
                            <a:srgbClr val="1A1A1A"/>
                          </a:solidFill>
                          <a:latin typeface="Arial" pitchFamily="34" charset="0"/>
                          <a:ea typeface="Arial" pitchFamily="34" charset="-122"/>
                          <a:cs typeface="Arial" pitchFamily="34" charset="-120"/>
                        </a:rPr>
                        <a:t>Storybook · Playwright E2E</a:t>
                      </a:r>
                      <a:endParaRPr lang="en-US" sz="11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100" dirty="0">
                          <a:solidFill>
                            <a:srgbClr val="555555"/>
                          </a:solidFill>
                          <a:latin typeface="Arial" pitchFamily="34" charset="0"/>
                          <a:ea typeface="Arial" pitchFamily="34" charset="-122"/>
                          <a:cs typeface="Arial" pitchFamily="34" charset="-120"/>
                        </a:rPr>
                        <a:t>Both on the P2 list with a concrete plan. Neither ships the app; the brief names Jest + RTL.</a:t>
                      </a:r>
                      <a:endParaRPr lang="en-US" sz="11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10088575" y="6355080"/>
            <a:ext cx="1371600" cy="27432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3 / 19</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731520" y="411480"/>
            <a:ext cx="10728655" cy="274320"/>
          </a:xfrm>
          <a:prstGeom prst="rect">
            <a:avLst/>
          </a:prstGeom>
          <a:noFill/>
          <a:ln/>
        </p:spPr>
        <p:txBody>
          <a:bodyPr wrap="square" lIns="0" tIns="0" rIns="0" bIns="0" rtlCol="0" anchor="t"/>
          <a:lstStyle/>
          <a:p>
            <a:pPr indent="0" marL="0">
              <a:buNone/>
            </a:pPr>
            <a:r>
              <a:rPr lang="en-US" sz="1100" spc="200" kern="0" dirty="0">
                <a:solidFill>
                  <a:srgbClr val="8A8A8A"/>
                </a:solidFill>
                <a:latin typeface="Arial" pitchFamily="34" charset="0"/>
                <a:ea typeface="Arial" pitchFamily="34" charset="-122"/>
                <a:cs typeface="Arial" pitchFamily="34" charset="-120"/>
              </a:rPr>
              <a:t>1 · PROPORTIONALITY</a:t>
            </a:r>
            <a:endParaRPr lang="en-US" sz="1100" dirty="0"/>
          </a:p>
        </p:txBody>
      </p:sp>
      <p:sp>
        <p:nvSpPr>
          <p:cNvPr id="3" name="Text 1"/>
          <p:cNvSpPr txBox="1"/>
          <p:nvPr/>
        </p:nvSpPr>
        <p:spPr>
          <a:xfrm>
            <a:off x="731520" y="731520"/>
            <a:ext cx="10728655" cy="73152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Where the seam is, and why it is not cut</a:t>
            </a:r>
            <a:endParaRPr lang="en-US" sz="3000" dirty="0"/>
          </a:p>
        </p:txBody>
      </p:sp>
      <p:sp>
        <p:nvSpPr>
          <p:cNvPr id="4" name="Text 2"/>
          <p:cNvSpPr txBox="1"/>
          <p:nvPr/>
        </p:nvSpPr>
        <p:spPr>
          <a:xfrm>
            <a:off x="731520" y="1554480"/>
            <a:ext cx="9357055" cy="685800"/>
          </a:xfrm>
          <a:prstGeom prst="rect">
            <a:avLst/>
          </a:prstGeom>
          <a:noFill/>
          <a:ln/>
        </p:spPr>
        <p:txBody>
          <a:bodyPr wrap="square" lIns="0" tIns="0" rIns="0" bIns="0" rtlCol="0" anchor="t"/>
          <a:lstStyle/>
          <a:p>
            <a:pPr indent="0" marL="0">
              <a:buNone/>
            </a:pPr>
            <a:r>
              <a:rPr lang="en-US" sz="1400" dirty="0">
                <a:solidFill>
                  <a:srgbClr val="555555"/>
                </a:solidFill>
                <a:latin typeface="Arial" pitchFamily="34" charset="0"/>
                <a:ea typeface="Arial" pitchFamily="34" charset="-122"/>
                <a:cs typeface="Arial" pitchFamily="34" charset="-120"/>
              </a:rPr>
              <a:t>ADR-0003. shadcn/ui: buy the behaviour (Radix), own the source. The boundary that would make a package extraction mechanical is enforced now, by a test.</a:t>
            </a:r>
            <a:endParaRPr lang="en-US" sz="1400" dirty="0"/>
          </a:p>
        </p:txBody>
      </p:sp>
      <p:sp>
        <p:nvSpPr>
          <p:cNvPr id="5" name="Shape 3"/>
          <p:cNvSpPr/>
          <p:nvPr/>
        </p:nvSpPr>
        <p:spPr>
          <a:xfrm>
            <a:off x="731520" y="2331720"/>
            <a:ext cx="5250028" cy="1828800"/>
          </a:xfrm>
          <a:prstGeom prst="roundRect">
            <a:avLst>
              <a:gd name="adj" fmla="val 5000"/>
            </a:avLst>
          </a:prstGeom>
          <a:solidFill>
            <a:srgbClr val="F5F5F5"/>
          </a:solidFill>
          <a:ln w="12700">
            <a:solidFill>
              <a:srgbClr val="F5F5F5"/>
            </a:solidFill>
            <a:prstDash val="solid"/>
          </a:ln>
        </p:spPr>
      </p:sp>
      <p:sp>
        <p:nvSpPr>
          <p:cNvPr id="6" name="Text 4"/>
          <p:cNvSpPr txBox="1"/>
          <p:nvPr/>
        </p:nvSpPr>
        <p:spPr>
          <a:xfrm>
            <a:off x="960120" y="2514600"/>
            <a:ext cx="4792828" cy="36576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components/ui/</a:t>
            </a:r>
            <a:endParaRPr lang="en-US" sz="1500" dirty="0"/>
          </a:p>
        </p:txBody>
      </p:sp>
      <p:sp>
        <p:nvSpPr>
          <p:cNvPr id="7" name="Text 5"/>
          <p:cNvSpPr txBox="1"/>
          <p:nvPr/>
        </p:nvSpPr>
        <p:spPr>
          <a:xfrm>
            <a:off x="960120" y="2898648"/>
            <a:ext cx="4792828" cy="109728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Generic primitives, copied into the repo. No primitive imports from the task domain (AC-UI-6, asserted by test/quality/component-boundary.test.ts).</a:t>
            </a:r>
            <a:endParaRPr lang="en-US" sz="1250" dirty="0"/>
          </a:p>
        </p:txBody>
      </p:sp>
      <p:sp>
        <p:nvSpPr>
          <p:cNvPr id="8" name="Shape 6"/>
          <p:cNvSpPr/>
          <p:nvPr/>
        </p:nvSpPr>
        <p:spPr>
          <a:xfrm>
            <a:off x="6210148" y="2331720"/>
            <a:ext cx="5250028" cy="1828800"/>
          </a:xfrm>
          <a:prstGeom prst="roundRect">
            <a:avLst>
              <a:gd name="adj" fmla="val 5000"/>
            </a:avLst>
          </a:prstGeom>
          <a:solidFill>
            <a:srgbClr val="F5F5F5"/>
          </a:solidFill>
          <a:ln w="12700">
            <a:solidFill>
              <a:srgbClr val="F5F5F5"/>
            </a:solidFill>
            <a:prstDash val="solid"/>
          </a:ln>
        </p:spPr>
      </p:sp>
      <p:sp>
        <p:nvSpPr>
          <p:cNvPr id="9" name="Text 7"/>
          <p:cNvSpPr txBox="1"/>
          <p:nvPr/>
        </p:nvSpPr>
        <p:spPr>
          <a:xfrm>
            <a:off x="6438748" y="2514600"/>
            <a:ext cx="4792828" cy="36576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components/tasks/</a:t>
            </a:r>
            <a:endParaRPr lang="en-US" sz="1500" dirty="0"/>
          </a:p>
        </p:txBody>
      </p:sp>
      <p:sp>
        <p:nvSpPr>
          <p:cNvPr id="10" name="Text 8"/>
          <p:cNvSpPr txBox="1"/>
          <p:nvPr/>
        </p:nvSpPr>
        <p:spPr>
          <a:xfrm>
            <a:off x="6438748" y="2898648"/>
            <a:ext cx="4792828" cy="109728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Domain components. Every control they render is imported from components/ui (AC-UI-5). The library stays a library, not a folder.</a:t>
            </a:r>
            <a:endParaRPr lang="en-US" sz="1250" dirty="0"/>
          </a:p>
        </p:txBody>
      </p:sp>
      <p:sp>
        <p:nvSpPr>
          <p:cNvPr id="11" name="Shape 9"/>
          <p:cNvSpPr/>
          <p:nvPr/>
        </p:nvSpPr>
        <p:spPr>
          <a:xfrm>
            <a:off x="731520" y="4389120"/>
            <a:ext cx="5250028" cy="1828800"/>
          </a:xfrm>
          <a:prstGeom prst="roundRect">
            <a:avLst>
              <a:gd name="adj" fmla="val 5000"/>
            </a:avLst>
          </a:prstGeom>
          <a:solidFill>
            <a:srgbClr val="F5F5F5"/>
          </a:solidFill>
          <a:ln w="12700">
            <a:solidFill>
              <a:srgbClr val="F5F5F5"/>
            </a:solidFill>
            <a:prstDash val="solid"/>
          </a:ln>
        </p:spPr>
      </p:sp>
      <p:sp>
        <p:nvSpPr>
          <p:cNvPr id="12" name="Text 10"/>
          <p:cNvSpPr txBox="1"/>
          <p:nvPr/>
        </p:nvSpPr>
        <p:spPr>
          <a:xfrm>
            <a:off x="960120" y="4572000"/>
            <a:ext cx="4792828" cy="36576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What flips it</a:t>
            </a:r>
            <a:endParaRPr lang="en-US" sz="1500" dirty="0"/>
          </a:p>
        </p:txBody>
      </p:sp>
      <p:sp>
        <p:nvSpPr>
          <p:cNvPr id="13" name="Text 11"/>
          <p:cNvSpPr txBox="1"/>
          <p:nvPr/>
        </p:nvSpPr>
        <p:spPr>
          <a:xfrm>
            <a:off x="960120" y="4956048"/>
            <a:ext cx="4792828" cy="109728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A second consumer: a storefront, an internal admin, a design-system package. Then components/ui becomes packages/ui with a move and an import-path change.</a:t>
            </a:r>
            <a:endParaRPr lang="en-US" sz="1250" dirty="0"/>
          </a:p>
        </p:txBody>
      </p:sp>
      <p:sp>
        <p:nvSpPr>
          <p:cNvPr id="14" name="Shape 12"/>
          <p:cNvSpPr/>
          <p:nvPr/>
        </p:nvSpPr>
        <p:spPr>
          <a:xfrm>
            <a:off x="6210148" y="4389120"/>
            <a:ext cx="5250028" cy="1828800"/>
          </a:xfrm>
          <a:prstGeom prst="roundRect">
            <a:avLst>
              <a:gd name="adj" fmla="val 5000"/>
            </a:avLst>
          </a:prstGeom>
          <a:solidFill>
            <a:srgbClr val="F5F5F5"/>
          </a:solidFill>
          <a:ln w="12700">
            <a:solidFill>
              <a:srgbClr val="F5F5F5"/>
            </a:solidFill>
            <a:prstDash val="solid"/>
          </a:ln>
        </p:spPr>
      </p:sp>
      <p:sp>
        <p:nvSpPr>
          <p:cNvPr id="15" name="Text 13"/>
          <p:cNvSpPr txBox="1"/>
          <p:nvPr/>
        </p:nvSpPr>
        <p:spPr>
          <a:xfrm>
            <a:off x="6438748" y="4572000"/>
            <a:ext cx="4792828" cy="36576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Why it matters at Aritzia</a:t>
            </a:r>
            <a:endParaRPr lang="en-US" sz="1500" dirty="0"/>
          </a:p>
        </p:txBody>
      </p:sp>
      <p:sp>
        <p:nvSpPr>
          <p:cNvPr id="16" name="Text 14"/>
          <p:cNvSpPr txBox="1"/>
          <p:nvPr/>
        </p:nvSpPr>
        <p:spPr>
          <a:xfrm>
            <a:off x="6438748" y="4956048"/>
            <a:ext cx="4792828" cy="109728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A fashion retailer's identity is the product. A component layer you own and theme through tokens serves that; a library whose defaults you spend the sprint overriding does not.</a:t>
            </a:r>
            <a:endParaRPr lang="en-US" sz="1250" dirty="0"/>
          </a:p>
        </p:txBody>
      </p:sp>
      <p:sp>
        <p:nvSpPr>
          <p:cNvPr id="17" name="Text 15"/>
          <p:cNvSpPr txBox="1"/>
          <p:nvPr/>
        </p:nvSpPr>
        <p:spPr>
          <a:xfrm>
            <a:off x="10088575" y="6355080"/>
            <a:ext cx="1371600" cy="27432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4 / 19</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731520" y="411480"/>
            <a:ext cx="10728655" cy="274320"/>
          </a:xfrm>
          <a:prstGeom prst="rect">
            <a:avLst/>
          </a:prstGeom>
          <a:noFill/>
          <a:ln/>
        </p:spPr>
        <p:txBody>
          <a:bodyPr wrap="square" lIns="0" tIns="0" rIns="0" bIns="0" rtlCol="0" anchor="t"/>
          <a:lstStyle/>
          <a:p>
            <a:pPr indent="0" marL="0">
              <a:buNone/>
            </a:pPr>
            <a:r>
              <a:rPr lang="en-US" sz="1100" spc="200" kern="0" dirty="0">
                <a:solidFill>
                  <a:srgbClr val="8A8A8A"/>
                </a:solidFill>
                <a:latin typeface="Arial" pitchFamily="34" charset="0"/>
                <a:ea typeface="Arial" pitchFamily="34" charset="-122"/>
                <a:cs typeface="Arial" pitchFamily="34" charset="-120"/>
              </a:rPr>
              <a:t>THE SPINE</a:t>
            </a:r>
            <a:endParaRPr lang="en-US" sz="1100" dirty="0"/>
          </a:p>
        </p:txBody>
      </p:sp>
      <p:sp>
        <p:nvSpPr>
          <p:cNvPr id="3" name="Text 1"/>
          <p:cNvSpPr txBox="1"/>
          <p:nvPr/>
        </p:nvSpPr>
        <p:spPr>
          <a:xfrm>
            <a:off x="731520" y="731520"/>
            <a:ext cx="10728655" cy="731520"/>
          </a:xfrm>
          <a:prstGeom prst="rect">
            <a:avLst/>
          </a:prstGeom>
          <a:noFill/>
          <a:ln/>
        </p:spPr>
        <p:txBody>
          <a:bodyPr wrap="square" lIns="0" tIns="0" rIns="0" bIns="0" rtlCol="0" anchor="ctr"/>
          <a:lstStyle/>
          <a:p>
            <a:pPr indent="0" marL="0">
              <a:buNone/>
            </a:pPr>
            <a:r>
              <a:rPr lang="en-US" sz="2500" b="1" dirty="0">
                <a:solidFill>
                  <a:srgbClr val="1A1A1A"/>
                </a:solidFill>
                <a:latin typeface="Arial" pitchFamily="34" charset="0"/>
                <a:ea typeface="Arial" pitchFamily="34" charset="-122"/>
                <a:cs typeface="Arial" pitchFamily="34" charset="-120"/>
              </a:rPr>
              <a:t>Each requirement is the miniature of a problem Aritzia already has</a:t>
            </a:r>
            <a:endParaRPr lang="en-US" sz="2500" dirty="0"/>
          </a:p>
        </p:txBody>
      </p:sp>
      <p:sp>
        <p:nvSpPr>
          <p:cNvPr id="4" name="Text 2"/>
          <p:cNvSpPr txBox="1"/>
          <p:nvPr/>
        </p:nvSpPr>
        <p:spPr>
          <a:xfrm>
            <a:off x="731520" y="1554480"/>
            <a:ext cx="9357055" cy="685800"/>
          </a:xfrm>
          <a:prstGeom prst="rect">
            <a:avLst/>
          </a:prstGeom>
          <a:noFill/>
          <a:ln/>
        </p:spPr>
        <p:txBody>
          <a:bodyPr wrap="square" lIns="0" tIns="0" rIns="0" bIns="0" rtlCol="0" anchor="t"/>
          <a:lstStyle/>
          <a:p>
            <a:pPr indent="0" marL="0">
              <a:buNone/>
            </a:pPr>
            <a:r>
              <a:rPr lang="en-US" sz="1400" dirty="0">
                <a:solidFill>
                  <a:srgbClr val="555555"/>
                </a:solidFill>
                <a:latin typeface="Arial" pitchFamily="34" charset="0"/>
                <a:ea typeface="Arial" pitchFamily="34" charset="-122"/>
                <a:cs typeface="Arial" pitchFamily="34" charset="-120"/>
              </a:rPr>
              <a:t>Every architectural decision is defended twice: once for this app, once for the checkout flow it generalises to.</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31520" y="2331720"/>
          <a:ext cx="10728655" cy="914400"/>
        </p:xfrm>
        <a:graphic>
          <a:graphicData uri="http://schemas.openxmlformats.org/drawingml/2006/table">
            <a:tbl>
              <a:tblPr/>
              <a:tblGrid>
                <a:gridCol w="3647743"/>
                <a:gridCol w="7080912"/>
              </a:tblGrid>
              <a:tr h="0">
                <a:tc>
                  <a:txBody>
                    <a:bodyPr/>
                    <a:lstStyle/>
                    <a:p>
                      <a:pPr indent="0" marL="0">
                        <a:buNone/>
                      </a:pPr>
                      <a:r>
                        <a:rPr lang="en-US" sz="1000" b="1" spc="100" kern="0" dirty="0">
                          <a:solidFill>
                            <a:srgbClr val="FFFFFF"/>
                          </a:solidFill>
                          <a:latin typeface="Arial" pitchFamily="34" charset="0"/>
                          <a:ea typeface="Arial" pitchFamily="34" charset="-122"/>
                          <a:cs typeface="Arial" pitchFamily="34" charset="-120"/>
                        </a:rPr>
                        <a:t>THIS APP</a:t>
                      </a:r>
                      <a:endParaRPr lang="en-US" sz="10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A1A1A"/>
                    </a:solidFill>
                  </a:tcPr>
                </a:tc>
                <a:tc>
                  <a:txBody>
                    <a:bodyPr/>
                    <a:lstStyle/>
                    <a:p>
                      <a:pPr indent="0" marL="0">
                        <a:buNone/>
                      </a:pPr>
                      <a:r>
                        <a:rPr lang="en-US" sz="1000" b="1" spc="100" kern="0" dirty="0">
                          <a:solidFill>
                            <a:srgbClr val="FFFFFF"/>
                          </a:solidFill>
                          <a:latin typeface="Arial" pitchFamily="34" charset="0"/>
                          <a:ea typeface="Arial" pitchFamily="34" charset="-122"/>
                          <a:cs typeface="Arial" pitchFamily="34" charset="-120"/>
                        </a:rPr>
                        <a:t>THE ARITZIA ANALOGUE</a:t>
                      </a:r>
                      <a:endParaRPr lang="en-US" sz="10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A1A1A"/>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Optimistic add and delete with rollback</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200" dirty="0">
                          <a:solidFill>
                            <a:srgbClr val="555555"/>
                          </a:solidFill>
                          <a:latin typeface="Arial" pitchFamily="34" charset="0"/>
                          <a:ea typeface="Arial" pitchFamily="34" charset="-122"/>
                          <a:cs typeface="Arial" pitchFamily="34" charset="-120"/>
                        </a:rPr>
                        <a:t>Cart mutation: instant feedback, reconcile or revert</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429 + Retry-After handling with full jitter</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5F5"/>
                    </a:solidFill>
                  </a:tcPr>
                </a:tc>
                <a:tc>
                  <a:txBody>
                    <a:bodyPr/>
                    <a:lstStyle/>
                    <a:p>
                      <a:pPr indent="0" marL="0">
                        <a:buNone/>
                      </a:pPr>
                      <a:r>
                        <a:rPr lang="en-US" sz="1200" dirty="0">
                          <a:solidFill>
                            <a:srgbClr val="555555"/>
                          </a:solidFill>
                          <a:latin typeface="Arial" pitchFamily="34" charset="0"/>
                          <a:ea typeface="Arial" pitchFamily="34" charset="-122"/>
                          <a:cs typeface="Arial" pitchFamily="34" charset="-120"/>
                        </a:rPr>
                        <a:t>Third-party inventory, tax, payment, or ESP calls under a product drop</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5F5"/>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Filter by All / Pending / Completed, held in the URL</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200" dirty="0">
                          <a:solidFill>
                            <a:srgbClr val="555555"/>
                          </a:solidFill>
                          <a:latin typeface="Arial" pitchFamily="34" charset="0"/>
                          <a:ea typeface="Arial" pitchFamily="34" charset="-122"/>
                          <a:cs typeface="Arial" pitchFamily="34" charset="-120"/>
                        </a:rPr>
                        <a:t>Catalog faceting: addressable, shareable, restorable</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Private key in a Route Handler, asserted absent from the bundle</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5F5"/>
                    </a:solidFill>
                  </a:tcPr>
                </a:tc>
                <a:tc>
                  <a:txBody>
                    <a:bodyPr/>
                    <a:lstStyle/>
                    <a:p>
                      <a:pPr indent="0" marL="0">
                        <a:buNone/>
                      </a:pPr>
                      <a:r>
                        <a:rPr lang="en-US" sz="1200" dirty="0">
                          <a:solidFill>
                            <a:srgbClr val="555555"/>
                          </a:solidFill>
                          <a:latin typeface="Arial" pitchFamily="34" charset="0"/>
                          <a:ea typeface="Arial" pitchFamily="34" charset="-122"/>
                          <a:cs typeface="Arial" pitchFamily="34" charset="-120"/>
                        </a:rPr>
                        <a:t>Any integration credential that must never reach the browser</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5F5"/>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localStorage rehydration, versioned and validated</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200" dirty="0">
                          <a:solidFill>
                            <a:srgbClr val="555555"/>
                          </a:solidFill>
                          <a:latin typeface="Arial" pitchFamily="34" charset="0"/>
                          <a:ea typeface="Arial" pitchFamily="34" charset="-122"/>
                          <a:cs typeface="Arial" pitchFamily="34" charset="-120"/>
                        </a:rPr>
                        <a:t>Guest cart persistence across sessions and deploys</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sessionStorage auth token</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5F5"/>
                    </a:solidFill>
                  </a:tcPr>
                </a:tc>
                <a:tc>
                  <a:txBody>
                    <a:bodyPr/>
                    <a:lstStyle/>
                    <a:p>
                      <a:pPr indent="0" marL="0">
                        <a:buNone/>
                      </a:pPr>
                      <a:r>
                        <a:rPr lang="en-US" sz="1200" dirty="0">
                          <a:solidFill>
                            <a:srgbClr val="555555"/>
                          </a:solidFill>
                          <a:latin typeface="Arial" pitchFamily="34" charset="0"/>
                          <a:ea typeface="Arial" pitchFamily="34" charset="-122"/>
                          <a:cs typeface="Arial" pitchFamily="34" charset="-120"/>
                        </a:rPr>
                        <a:t>Session-scoped identity that dies with the tab</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5F5"/>
                    </a:solidFill>
                  </a:tcPr>
                </a:tc>
              </a:tr>
            </a:tbl>
          </a:graphicData>
        </a:graphic>
      </p:graphicFrame>
      <p:sp>
        <p:nvSpPr>
          <p:cNvPr id="6" name="Text 3"/>
          <p:cNvSpPr txBox="1"/>
          <p:nvPr/>
        </p:nvSpPr>
        <p:spPr>
          <a:xfrm>
            <a:off x="10088575" y="6355080"/>
            <a:ext cx="1371600" cy="27432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5 / 19</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731520" y="411480"/>
            <a:ext cx="10728655" cy="274320"/>
          </a:xfrm>
          <a:prstGeom prst="rect">
            <a:avLst/>
          </a:prstGeom>
          <a:noFill/>
          <a:ln/>
        </p:spPr>
        <p:txBody>
          <a:bodyPr wrap="square" lIns="0" tIns="0" rIns="0" bIns="0" rtlCol="0" anchor="t"/>
          <a:lstStyle/>
          <a:p>
            <a:pPr indent="0" marL="0">
              <a:buNone/>
            </a:pPr>
            <a:r>
              <a:rPr lang="en-US" sz="1100" spc="200" kern="0" dirty="0">
                <a:solidFill>
                  <a:srgbClr val="8A8A8A"/>
                </a:solidFill>
                <a:latin typeface="Arial" pitchFamily="34" charset="0"/>
                <a:ea typeface="Arial" pitchFamily="34" charset="-122"/>
                <a:cs typeface="Arial" pitchFamily="34" charset="-120"/>
              </a:rPr>
              <a:t>2 · TRACEABILITY</a:t>
            </a:r>
            <a:endParaRPr lang="en-US" sz="1100" dirty="0"/>
          </a:p>
        </p:txBody>
      </p:sp>
      <p:sp>
        <p:nvSpPr>
          <p:cNvPr id="3" name="Text 1"/>
          <p:cNvSpPr txBox="1"/>
          <p:nvPr/>
        </p:nvSpPr>
        <p:spPr>
          <a:xfrm>
            <a:off x="731520" y="731520"/>
            <a:ext cx="10728655" cy="73152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How the build ran: spec first, then agents, then QA</a:t>
            </a:r>
            <a:endParaRPr lang="en-US" sz="3000" dirty="0"/>
          </a:p>
        </p:txBody>
      </p:sp>
      <p:sp>
        <p:nvSpPr>
          <p:cNvPr id="4" name="Text 2"/>
          <p:cNvSpPr txBox="1"/>
          <p:nvPr/>
        </p:nvSpPr>
        <p:spPr>
          <a:xfrm>
            <a:off x="731520" y="1554480"/>
            <a:ext cx="9357055" cy="685800"/>
          </a:xfrm>
          <a:prstGeom prst="rect">
            <a:avLst/>
          </a:prstGeom>
          <a:noFill/>
          <a:ln/>
        </p:spPr>
        <p:txBody>
          <a:bodyPr wrap="square" lIns="0" tIns="0" rIns="0" bIns="0" rtlCol="0" anchor="t"/>
          <a:lstStyle/>
          <a:p>
            <a:pPr indent="0" marL="0">
              <a:buNone/>
            </a:pPr>
            <a:r>
              <a:rPr lang="en-US" sz="1400" dirty="0">
                <a:solidFill>
                  <a:srgbClr val="555555"/>
                </a:solidFill>
                <a:latin typeface="Arial" pitchFamily="34" charset="0"/>
                <a:ea typeface="Arial" pitchFamily="34" charset="-122"/>
                <a:cs typeface="Arial" pitchFamily="34" charset="-120"/>
              </a:rPr>
              <a:t>Three roles, one session each, and rules that make the cost measurable afterwards.</a:t>
            </a:r>
            <a:endParaRPr lang="en-US" sz="1400" dirty="0"/>
          </a:p>
        </p:txBody>
      </p:sp>
      <p:sp>
        <p:nvSpPr>
          <p:cNvPr id="5" name="Shape 3"/>
          <p:cNvSpPr/>
          <p:nvPr/>
        </p:nvSpPr>
        <p:spPr>
          <a:xfrm>
            <a:off x="731520" y="2331720"/>
            <a:ext cx="5250028" cy="1828800"/>
          </a:xfrm>
          <a:prstGeom prst="roundRect">
            <a:avLst>
              <a:gd name="adj" fmla="val 5000"/>
            </a:avLst>
          </a:prstGeom>
          <a:solidFill>
            <a:srgbClr val="F5F5F5"/>
          </a:solidFill>
          <a:ln w="12700">
            <a:solidFill>
              <a:srgbClr val="F5F5F5"/>
            </a:solidFill>
            <a:prstDash val="solid"/>
          </a:ln>
        </p:spPr>
      </p:sp>
      <p:sp>
        <p:nvSpPr>
          <p:cNvPr id="6" name="Text 4"/>
          <p:cNvSpPr txBox="1"/>
          <p:nvPr/>
        </p:nvSpPr>
        <p:spPr>
          <a:xfrm>
            <a:off x="960120" y="2514600"/>
            <a:ext cx="4792828" cy="36576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Architect</a:t>
            </a:r>
            <a:endParaRPr lang="en-US" sz="1500" dirty="0"/>
          </a:p>
        </p:txBody>
      </p:sp>
      <p:sp>
        <p:nvSpPr>
          <p:cNvPr id="7" name="Text 5"/>
          <p:cNvSpPr txBox="1"/>
          <p:nvPr/>
        </p:nvSpPr>
        <p:spPr>
          <a:xfrm>
            <a:off x="960120" y="2898648"/>
            <a:ext cx="4792828" cy="109728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Owns PROJECT.md, ACCEPTANCE.md (79 criteria), six ADRs, TASKS.md. Writes no application code. A fresh-session critic pass found 15 contradictions before wave 0 opened.</a:t>
            </a:r>
            <a:endParaRPr lang="en-US" sz="1250" dirty="0"/>
          </a:p>
        </p:txBody>
      </p:sp>
      <p:sp>
        <p:nvSpPr>
          <p:cNvPr id="8" name="Shape 6"/>
          <p:cNvSpPr/>
          <p:nvPr/>
        </p:nvSpPr>
        <p:spPr>
          <a:xfrm>
            <a:off x="6210148" y="2331720"/>
            <a:ext cx="5250028" cy="1828800"/>
          </a:xfrm>
          <a:prstGeom prst="roundRect">
            <a:avLst>
              <a:gd name="adj" fmla="val 5000"/>
            </a:avLst>
          </a:prstGeom>
          <a:solidFill>
            <a:srgbClr val="F5F5F5"/>
          </a:solidFill>
          <a:ln w="12700">
            <a:solidFill>
              <a:srgbClr val="F5F5F5"/>
            </a:solidFill>
            <a:prstDash val="solid"/>
          </a:ln>
        </p:spPr>
      </p:sp>
      <p:sp>
        <p:nvSpPr>
          <p:cNvPr id="9" name="Text 7"/>
          <p:cNvSpPr txBox="1"/>
          <p:nvPr/>
        </p:nvSpPr>
        <p:spPr>
          <a:xfrm>
            <a:off x="6438748" y="2514600"/>
            <a:ext cx="4792828" cy="36576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Builder</a:t>
            </a:r>
            <a:endParaRPr lang="en-US" sz="1500" dirty="0"/>
          </a:p>
        </p:txBody>
      </p:sp>
      <p:sp>
        <p:nvSpPr>
          <p:cNvPr id="10" name="Text 8"/>
          <p:cNvSpPr txBox="1"/>
          <p:nvPr/>
        </p:nvSpPr>
        <p:spPr>
          <a:xfrm>
            <a:off x="6438748" y="2898648"/>
            <a:ext cx="4792828" cy="109728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One task per session. Never edits a spec file. A spec that cannot be built as written becomes a row in BLOCKERS.md, not a quiet decision.</a:t>
            </a:r>
            <a:endParaRPr lang="en-US" sz="1250" dirty="0"/>
          </a:p>
        </p:txBody>
      </p:sp>
      <p:sp>
        <p:nvSpPr>
          <p:cNvPr id="11" name="Shape 9"/>
          <p:cNvSpPr/>
          <p:nvPr/>
        </p:nvSpPr>
        <p:spPr>
          <a:xfrm>
            <a:off x="731520" y="4389120"/>
            <a:ext cx="5250028" cy="1828800"/>
          </a:xfrm>
          <a:prstGeom prst="roundRect">
            <a:avLst>
              <a:gd name="adj" fmla="val 5000"/>
            </a:avLst>
          </a:prstGeom>
          <a:solidFill>
            <a:srgbClr val="F5F5F5"/>
          </a:solidFill>
          <a:ln w="12700">
            <a:solidFill>
              <a:srgbClr val="F5F5F5"/>
            </a:solidFill>
            <a:prstDash val="solid"/>
          </a:ln>
        </p:spPr>
      </p:sp>
      <p:sp>
        <p:nvSpPr>
          <p:cNvPr id="12" name="Text 10"/>
          <p:cNvSpPr txBox="1"/>
          <p:nvPr/>
        </p:nvSpPr>
        <p:spPr>
          <a:xfrm>
            <a:off x="960120" y="4572000"/>
            <a:ext cx="4792828" cy="36576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QA</a:t>
            </a:r>
            <a:endParaRPr lang="en-US" sz="1500" dirty="0"/>
          </a:p>
        </p:txBody>
      </p:sp>
      <p:sp>
        <p:nvSpPr>
          <p:cNvPr id="13" name="Text 11"/>
          <p:cNvSpPr txBox="1"/>
          <p:nvPr/>
        </p:nvSpPr>
        <p:spPr>
          <a:xfrm>
            <a:off x="960120" y="4956048"/>
            <a:ext cx="4792828" cy="109728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Independent session, no shared context. Marks a criterion met only with a named test. 72 met, 6 verified manually with procedure and date, 1 open.</a:t>
            </a:r>
            <a:endParaRPr lang="en-US" sz="1250" dirty="0"/>
          </a:p>
        </p:txBody>
      </p:sp>
      <p:sp>
        <p:nvSpPr>
          <p:cNvPr id="14" name="Shape 12"/>
          <p:cNvSpPr/>
          <p:nvPr/>
        </p:nvSpPr>
        <p:spPr>
          <a:xfrm>
            <a:off x="6210148" y="4389120"/>
            <a:ext cx="5250028" cy="1828800"/>
          </a:xfrm>
          <a:prstGeom prst="roundRect">
            <a:avLst>
              <a:gd name="adj" fmla="val 5000"/>
            </a:avLst>
          </a:prstGeom>
          <a:solidFill>
            <a:srgbClr val="F5F5F5"/>
          </a:solidFill>
          <a:ln w="12700">
            <a:solidFill>
              <a:srgbClr val="F5F5F5"/>
            </a:solidFill>
            <a:prstDash val="solid"/>
          </a:ln>
        </p:spPr>
      </p:sp>
      <p:sp>
        <p:nvSpPr>
          <p:cNvPr id="15" name="Text 13"/>
          <p:cNvSpPr txBox="1"/>
          <p:nvPr/>
        </p:nvSpPr>
        <p:spPr>
          <a:xfrm>
            <a:off x="6438748" y="4572000"/>
            <a:ext cx="4792828" cy="36576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The three rules</a:t>
            </a:r>
            <a:endParaRPr lang="en-US" sz="1500" dirty="0"/>
          </a:p>
        </p:txBody>
      </p:sp>
      <p:sp>
        <p:nvSpPr>
          <p:cNvPr id="16" name="Text 14"/>
          <p:cNvSpPr txBox="1"/>
          <p:nvPr/>
        </p:nvSpPr>
        <p:spPr>
          <a:xfrm>
            <a:off x="6438748" y="4956048"/>
            <a:ext cx="4792828" cy="109728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No code without a task ID. Every commit references a criterion. A criterion is not met until a test names it.</a:t>
            </a:r>
            <a:endParaRPr lang="en-US" sz="1250" dirty="0"/>
          </a:p>
        </p:txBody>
      </p:sp>
      <p:sp>
        <p:nvSpPr>
          <p:cNvPr id="17" name="Text 15"/>
          <p:cNvSpPr txBox="1"/>
          <p:nvPr/>
        </p:nvSpPr>
        <p:spPr>
          <a:xfrm>
            <a:off x="10088575" y="6355080"/>
            <a:ext cx="1371600" cy="27432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6 / 19</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731520" y="411480"/>
            <a:ext cx="10728655" cy="274320"/>
          </a:xfrm>
          <a:prstGeom prst="rect">
            <a:avLst/>
          </a:prstGeom>
          <a:noFill/>
          <a:ln/>
        </p:spPr>
        <p:txBody>
          <a:bodyPr wrap="square" lIns="0" tIns="0" rIns="0" bIns="0" rtlCol="0" anchor="t"/>
          <a:lstStyle/>
          <a:p>
            <a:pPr indent="0" marL="0">
              <a:buNone/>
            </a:pPr>
            <a:r>
              <a:rPr lang="en-US" sz="1100" spc="200" kern="0" dirty="0">
                <a:solidFill>
                  <a:srgbClr val="8A8A8A"/>
                </a:solidFill>
                <a:latin typeface="Arial" pitchFamily="34" charset="0"/>
                <a:ea typeface="Arial" pitchFamily="34" charset="-122"/>
                <a:cs typeface="Arial" pitchFamily="34" charset="-120"/>
              </a:rPr>
              <a:t>2 · TRACEABILITY</a:t>
            </a:r>
            <a:endParaRPr lang="en-US" sz="1100" dirty="0"/>
          </a:p>
        </p:txBody>
      </p:sp>
      <p:sp>
        <p:nvSpPr>
          <p:cNvPr id="3" name="Text 1"/>
          <p:cNvSpPr txBox="1"/>
          <p:nvPr/>
        </p:nvSpPr>
        <p:spPr>
          <a:xfrm>
            <a:off x="731520" y="731520"/>
            <a:ext cx="10728655" cy="73152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One requirement, traced end to end</a:t>
            </a:r>
            <a:endParaRPr lang="en-US" sz="3000" dirty="0"/>
          </a:p>
        </p:txBody>
      </p:sp>
      <p:sp>
        <p:nvSpPr>
          <p:cNvPr id="4" name="Text 2"/>
          <p:cNvSpPr txBox="1"/>
          <p:nvPr/>
        </p:nvSpPr>
        <p:spPr>
          <a:xfrm>
            <a:off x="731520" y="1801368"/>
            <a:ext cx="1554480" cy="365760"/>
          </a:xfrm>
          <a:prstGeom prst="rect">
            <a:avLst/>
          </a:prstGeom>
          <a:noFill/>
          <a:ln/>
        </p:spPr>
        <p:txBody>
          <a:bodyPr wrap="square" lIns="0" tIns="0" rIns="0" bIns="0" rtlCol="0" anchor="t"/>
          <a:lstStyle/>
          <a:p>
            <a:pPr indent="0" marL="0">
              <a:buNone/>
            </a:pPr>
            <a:r>
              <a:rPr lang="en-US" sz="1050" b="1" spc="200" kern="0" dirty="0">
                <a:solidFill>
                  <a:srgbClr val="E8630A"/>
                </a:solidFill>
                <a:latin typeface="Arial" pitchFamily="34" charset="0"/>
                <a:ea typeface="Arial" pitchFamily="34" charset="-122"/>
                <a:cs typeface="Arial" pitchFamily="34" charset="-120"/>
              </a:rPr>
              <a:t>BRIEF, R7</a:t>
            </a:r>
            <a:endParaRPr lang="en-US" sz="1050" dirty="0"/>
          </a:p>
        </p:txBody>
      </p:sp>
      <p:sp>
        <p:nvSpPr>
          <p:cNvPr id="5" name="Shape 3"/>
          <p:cNvSpPr/>
          <p:nvPr/>
        </p:nvSpPr>
        <p:spPr>
          <a:xfrm>
            <a:off x="2468880" y="1691640"/>
            <a:ext cx="8991295" cy="740664"/>
          </a:xfrm>
          <a:prstGeom prst="roundRect">
            <a:avLst>
              <a:gd name="adj" fmla="val 9877"/>
            </a:avLst>
          </a:prstGeom>
          <a:solidFill>
            <a:srgbClr val="F5F5F5"/>
          </a:solidFill>
          <a:ln w="12700">
            <a:solidFill>
              <a:srgbClr val="F5F5F5"/>
            </a:solidFill>
            <a:prstDash val="solid"/>
          </a:ln>
        </p:spPr>
      </p:sp>
      <p:sp>
        <p:nvSpPr>
          <p:cNvPr id="6" name="Text 4"/>
          <p:cNvSpPr txBox="1"/>
          <p:nvPr/>
        </p:nvSpPr>
        <p:spPr>
          <a:xfrm>
            <a:off x="2651760" y="1783080"/>
            <a:ext cx="8625535" cy="557784"/>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"Simulate an API call on each addition and removal … consider potential rate-limiting scenarios"</a:t>
            </a:r>
            <a:endParaRPr lang="en-US" sz="1350" dirty="0"/>
          </a:p>
        </p:txBody>
      </p:sp>
      <p:sp>
        <p:nvSpPr>
          <p:cNvPr id="7" name="Text 5"/>
          <p:cNvSpPr txBox="1"/>
          <p:nvPr/>
        </p:nvSpPr>
        <p:spPr>
          <a:xfrm>
            <a:off x="731520" y="2706624"/>
            <a:ext cx="1554480" cy="365760"/>
          </a:xfrm>
          <a:prstGeom prst="rect">
            <a:avLst/>
          </a:prstGeom>
          <a:noFill/>
          <a:ln/>
        </p:spPr>
        <p:txBody>
          <a:bodyPr wrap="square" lIns="0" tIns="0" rIns="0" bIns="0" rtlCol="0" anchor="t"/>
          <a:lstStyle/>
          <a:p>
            <a:pPr indent="0" marL="0">
              <a:buNone/>
            </a:pPr>
            <a:r>
              <a:rPr lang="en-US" sz="1050" b="1" spc="200" kern="0" dirty="0">
                <a:solidFill>
                  <a:srgbClr val="E8630A"/>
                </a:solidFill>
                <a:latin typeface="Arial" pitchFamily="34" charset="0"/>
                <a:ea typeface="Arial" pitchFamily="34" charset="-122"/>
                <a:cs typeface="Arial" pitchFamily="34" charset="-120"/>
              </a:rPr>
              <a:t>CRITERION</a:t>
            </a:r>
            <a:endParaRPr lang="en-US" sz="1050" dirty="0"/>
          </a:p>
        </p:txBody>
      </p:sp>
      <p:sp>
        <p:nvSpPr>
          <p:cNvPr id="8" name="Shape 6"/>
          <p:cNvSpPr/>
          <p:nvPr/>
        </p:nvSpPr>
        <p:spPr>
          <a:xfrm>
            <a:off x="2468880" y="2596896"/>
            <a:ext cx="8991295" cy="740664"/>
          </a:xfrm>
          <a:prstGeom prst="roundRect">
            <a:avLst>
              <a:gd name="adj" fmla="val 9877"/>
            </a:avLst>
          </a:prstGeom>
          <a:solidFill>
            <a:srgbClr val="F5F5F5"/>
          </a:solidFill>
          <a:ln w="12700">
            <a:solidFill>
              <a:srgbClr val="F5F5F5"/>
            </a:solidFill>
            <a:prstDash val="solid"/>
          </a:ln>
        </p:spPr>
      </p:sp>
      <p:sp>
        <p:nvSpPr>
          <p:cNvPr id="9" name="Text 7"/>
          <p:cNvSpPr txBox="1"/>
          <p:nvPr/>
        </p:nvSpPr>
        <p:spPr>
          <a:xfrm>
            <a:off x="2651760" y="2688336"/>
            <a:ext cx="8625535" cy="557784"/>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AC-API-9 · Given a task is deleted, when the call ultimately fails, then it reappears in its previous position with an error announced</a:t>
            </a:r>
            <a:endParaRPr lang="en-US" sz="1350" dirty="0"/>
          </a:p>
        </p:txBody>
      </p:sp>
      <p:sp>
        <p:nvSpPr>
          <p:cNvPr id="10" name="Text 8"/>
          <p:cNvSpPr txBox="1"/>
          <p:nvPr/>
        </p:nvSpPr>
        <p:spPr>
          <a:xfrm>
            <a:off x="731520" y="3611880"/>
            <a:ext cx="1554480" cy="365760"/>
          </a:xfrm>
          <a:prstGeom prst="rect">
            <a:avLst/>
          </a:prstGeom>
          <a:noFill/>
          <a:ln/>
        </p:spPr>
        <p:txBody>
          <a:bodyPr wrap="square" lIns="0" tIns="0" rIns="0" bIns="0" rtlCol="0" anchor="t"/>
          <a:lstStyle/>
          <a:p>
            <a:pPr indent="0" marL="0">
              <a:buNone/>
            </a:pPr>
            <a:r>
              <a:rPr lang="en-US" sz="1050" b="1" spc="200" kern="0" dirty="0">
                <a:solidFill>
                  <a:srgbClr val="E8630A"/>
                </a:solidFill>
                <a:latin typeface="Arial" pitchFamily="34" charset="0"/>
                <a:ea typeface="Arial" pitchFamily="34" charset="-122"/>
                <a:cs typeface="Arial" pitchFamily="34" charset="-120"/>
              </a:rPr>
              <a:t>TEST</a:t>
            </a:r>
            <a:endParaRPr lang="en-US" sz="1050" dirty="0"/>
          </a:p>
        </p:txBody>
      </p:sp>
      <p:sp>
        <p:nvSpPr>
          <p:cNvPr id="11" name="Shape 9"/>
          <p:cNvSpPr/>
          <p:nvPr/>
        </p:nvSpPr>
        <p:spPr>
          <a:xfrm>
            <a:off x="2468880" y="3502152"/>
            <a:ext cx="8991295" cy="740664"/>
          </a:xfrm>
          <a:prstGeom prst="roundRect">
            <a:avLst>
              <a:gd name="adj" fmla="val 9877"/>
            </a:avLst>
          </a:prstGeom>
          <a:solidFill>
            <a:srgbClr val="F5F5F5"/>
          </a:solidFill>
          <a:ln w="12700">
            <a:solidFill>
              <a:srgbClr val="F5F5F5"/>
            </a:solidFill>
            <a:prstDash val="solid"/>
          </a:ln>
        </p:spPr>
      </p:sp>
      <p:sp>
        <p:nvSpPr>
          <p:cNvPr id="12" name="Text 10"/>
          <p:cNvSpPr txBox="1"/>
          <p:nvPr/>
        </p:nvSpPr>
        <p:spPr>
          <a:xfrm>
            <a:off x="2651760" y="3593592"/>
            <a:ext cx="8625535" cy="557784"/>
          </a:xfrm>
          <a:prstGeom prst="rect">
            <a:avLst/>
          </a:prstGeom>
          <a:noFill/>
          <a:ln/>
        </p:spPr>
        <p:txBody>
          <a:bodyPr wrap="square" lIns="0" tIns="0" rIns="0" bIns="0" rtlCol="0" anchor="ctr"/>
          <a:lstStyle/>
          <a:p>
            <a:pPr indent="0" marL="0">
              <a:buNone/>
            </a:pPr>
            <a:r>
              <a:rPr lang="en-US" sz="1150" dirty="0">
                <a:solidFill>
                  <a:srgbClr val="1A1A1A"/>
                </a:solidFill>
                <a:latin typeface="Courier New" pitchFamily="34" charset="0"/>
                <a:ea typeface="Courier New" pitchFamily="34" charset="-122"/>
                <a:cs typeface="Courier New" pitchFamily="34" charset="-120"/>
              </a:rPr>
              <a:t>test/tasks/optimistic.test.tsx › it("AC-API-9: the task disappears immediately, and when the call ultimately fails it reappears in its previous position with an error announced")</a:t>
            </a:r>
            <a:endParaRPr lang="en-US" sz="1150" dirty="0"/>
          </a:p>
        </p:txBody>
      </p:sp>
      <p:sp>
        <p:nvSpPr>
          <p:cNvPr id="13" name="Text 11"/>
          <p:cNvSpPr txBox="1"/>
          <p:nvPr/>
        </p:nvSpPr>
        <p:spPr>
          <a:xfrm>
            <a:off x="731520" y="4517136"/>
            <a:ext cx="1554480" cy="365760"/>
          </a:xfrm>
          <a:prstGeom prst="rect">
            <a:avLst/>
          </a:prstGeom>
          <a:noFill/>
          <a:ln/>
        </p:spPr>
        <p:txBody>
          <a:bodyPr wrap="square" lIns="0" tIns="0" rIns="0" bIns="0" rtlCol="0" anchor="t"/>
          <a:lstStyle/>
          <a:p>
            <a:pPr indent="0" marL="0">
              <a:buNone/>
            </a:pPr>
            <a:r>
              <a:rPr lang="en-US" sz="1050" b="1" spc="200" kern="0" dirty="0">
                <a:solidFill>
                  <a:srgbClr val="E8630A"/>
                </a:solidFill>
                <a:latin typeface="Arial" pitchFamily="34" charset="0"/>
                <a:ea typeface="Arial" pitchFamily="34" charset="-122"/>
                <a:cs typeface="Arial" pitchFamily="34" charset="-120"/>
              </a:rPr>
              <a:t>COMMIT</a:t>
            </a:r>
            <a:endParaRPr lang="en-US" sz="1050" dirty="0"/>
          </a:p>
        </p:txBody>
      </p:sp>
      <p:sp>
        <p:nvSpPr>
          <p:cNvPr id="14" name="Shape 12"/>
          <p:cNvSpPr/>
          <p:nvPr/>
        </p:nvSpPr>
        <p:spPr>
          <a:xfrm>
            <a:off x="2468880" y="4407408"/>
            <a:ext cx="8991295" cy="740664"/>
          </a:xfrm>
          <a:prstGeom prst="roundRect">
            <a:avLst>
              <a:gd name="adj" fmla="val 9877"/>
            </a:avLst>
          </a:prstGeom>
          <a:solidFill>
            <a:srgbClr val="F5F5F5"/>
          </a:solidFill>
          <a:ln w="12700">
            <a:solidFill>
              <a:srgbClr val="F5F5F5"/>
            </a:solidFill>
            <a:prstDash val="solid"/>
          </a:ln>
        </p:spPr>
      </p:sp>
      <p:sp>
        <p:nvSpPr>
          <p:cNvPr id="15" name="Text 13"/>
          <p:cNvSpPr txBox="1"/>
          <p:nvPr/>
        </p:nvSpPr>
        <p:spPr>
          <a:xfrm>
            <a:off x="2651760" y="4498848"/>
            <a:ext cx="8625535" cy="557784"/>
          </a:xfrm>
          <a:prstGeom prst="rect">
            <a:avLst/>
          </a:prstGeom>
          <a:noFill/>
          <a:ln/>
        </p:spPr>
        <p:txBody>
          <a:bodyPr wrap="square" lIns="0" tIns="0" rIns="0" bIns="0" rtlCol="0" anchor="ctr"/>
          <a:lstStyle/>
          <a:p>
            <a:pPr indent="0" marL="0">
              <a:buNone/>
            </a:pPr>
            <a:r>
              <a:rPr lang="en-US" sz="1150" dirty="0">
                <a:solidFill>
                  <a:srgbClr val="1A1A1A"/>
                </a:solidFill>
                <a:latin typeface="Courier New" pitchFamily="34" charset="0"/>
                <a:ea typeface="Courier New" pitchFamily="34" charset="-122"/>
                <a:cs typeface="Courier New" pitchFamily="34" charset="-120"/>
              </a:rPr>
              <a:t>6eff62e feat(tasks): T-08 optimistic create and delete with reconcile and rollback [AC-API-1..2, AC-API-7..9, AC-API-11..12, AC-ADD-8, AC-DEL-2] (#27)</a:t>
            </a:r>
            <a:endParaRPr lang="en-US" sz="1150" dirty="0"/>
          </a:p>
        </p:txBody>
      </p:sp>
      <p:sp>
        <p:nvSpPr>
          <p:cNvPr id="16" name="Text 14"/>
          <p:cNvSpPr txBox="1"/>
          <p:nvPr/>
        </p:nvSpPr>
        <p:spPr>
          <a:xfrm>
            <a:off x="731520" y="5422392"/>
            <a:ext cx="1554480" cy="365760"/>
          </a:xfrm>
          <a:prstGeom prst="rect">
            <a:avLst/>
          </a:prstGeom>
          <a:noFill/>
          <a:ln/>
        </p:spPr>
        <p:txBody>
          <a:bodyPr wrap="square" lIns="0" tIns="0" rIns="0" bIns="0" rtlCol="0" anchor="t"/>
          <a:lstStyle/>
          <a:p>
            <a:pPr indent="0" marL="0">
              <a:buNone/>
            </a:pPr>
            <a:r>
              <a:rPr lang="en-US" sz="1050" b="1" spc="200" kern="0" dirty="0">
                <a:solidFill>
                  <a:srgbClr val="E8630A"/>
                </a:solidFill>
                <a:latin typeface="Arial" pitchFamily="34" charset="0"/>
                <a:ea typeface="Arial" pitchFamily="34" charset="-122"/>
                <a:cs typeface="Arial" pitchFamily="34" charset="-120"/>
              </a:rPr>
              <a:t>DO IT YOURSELF</a:t>
            </a:r>
            <a:endParaRPr lang="en-US" sz="1050" dirty="0"/>
          </a:p>
        </p:txBody>
      </p:sp>
      <p:sp>
        <p:nvSpPr>
          <p:cNvPr id="17" name="Shape 15"/>
          <p:cNvSpPr/>
          <p:nvPr/>
        </p:nvSpPr>
        <p:spPr>
          <a:xfrm>
            <a:off x="2468880" y="5312664"/>
            <a:ext cx="8991295" cy="740664"/>
          </a:xfrm>
          <a:prstGeom prst="roundRect">
            <a:avLst>
              <a:gd name="adj" fmla="val 9877"/>
            </a:avLst>
          </a:prstGeom>
          <a:solidFill>
            <a:srgbClr val="F5F5F5"/>
          </a:solidFill>
          <a:ln w="12700">
            <a:solidFill>
              <a:srgbClr val="F5F5F5"/>
            </a:solidFill>
            <a:prstDash val="solid"/>
          </a:ln>
        </p:spPr>
      </p:sp>
      <p:sp>
        <p:nvSpPr>
          <p:cNvPr id="18" name="Text 16"/>
          <p:cNvSpPr txBox="1"/>
          <p:nvPr/>
        </p:nvSpPr>
        <p:spPr>
          <a:xfrm>
            <a:off x="2651760" y="5404104"/>
            <a:ext cx="8625535" cy="557784"/>
          </a:xfrm>
          <a:prstGeom prst="rect">
            <a:avLst/>
          </a:prstGeom>
          <a:noFill/>
          <a:ln/>
        </p:spPr>
        <p:txBody>
          <a:bodyPr wrap="square" lIns="0" tIns="0" rIns="0" bIns="0" rtlCol="0" anchor="ctr"/>
          <a:lstStyle/>
          <a:p>
            <a:pPr indent="0" marL="0">
              <a:buNone/>
            </a:pPr>
            <a:r>
              <a:rPr lang="en-US" sz="1150" dirty="0">
                <a:solidFill>
                  <a:srgbClr val="1A1A1A"/>
                </a:solidFill>
                <a:latin typeface="Courier New" pitchFamily="34" charset="0"/>
                <a:ea typeface="Courier New" pitchFamily="34" charset="-122"/>
                <a:cs typeface="Courier New" pitchFamily="34" charset="-120"/>
              </a:rPr>
              <a:t>git grep -n "AC-API-9" -- test/ lib/ docs/ACCEPTANCE.md</a:t>
            </a:r>
            <a:endParaRPr lang="en-US" sz="1150" dirty="0"/>
          </a:p>
        </p:txBody>
      </p:sp>
      <p:sp>
        <p:nvSpPr>
          <p:cNvPr id="19" name="Text 17"/>
          <p:cNvSpPr txBox="1"/>
          <p:nvPr/>
        </p:nvSpPr>
        <p:spPr>
          <a:xfrm>
            <a:off x="10088575" y="6355080"/>
            <a:ext cx="1371600" cy="27432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7 / 19</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731520" y="411480"/>
            <a:ext cx="10728655" cy="274320"/>
          </a:xfrm>
          <a:prstGeom prst="rect">
            <a:avLst/>
          </a:prstGeom>
          <a:noFill/>
          <a:ln/>
        </p:spPr>
        <p:txBody>
          <a:bodyPr wrap="square" lIns="0" tIns="0" rIns="0" bIns="0" rtlCol="0" anchor="t"/>
          <a:lstStyle/>
          <a:p>
            <a:pPr indent="0" marL="0">
              <a:buNone/>
            </a:pPr>
            <a:r>
              <a:rPr lang="en-US" sz="1100" spc="200" kern="0" dirty="0">
                <a:solidFill>
                  <a:srgbClr val="8A8A8A"/>
                </a:solidFill>
                <a:latin typeface="Arial" pitchFamily="34" charset="0"/>
                <a:ea typeface="Arial" pitchFamily="34" charset="-122"/>
                <a:cs typeface="Arial" pitchFamily="34" charset="-120"/>
              </a:rPr>
              <a:t>3 · THE API SIMULATION</a:t>
            </a:r>
            <a:endParaRPr lang="en-US" sz="1100" dirty="0"/>
          </a:p>
        </p:txBody>
      </p:sp>
      <p:sp>
        <p:nvSpPr>
          <p:cNvPr id="3" name="Text 1"/>
          <p:cNvSpPr txBox="1"/>
          <p:nvPr/>
        </p:nvSpPr>
        <p:spPr>
          <a:xfrm>
            <a:off x="731520" y="731520"/>
            <a:ext cx="10728655" cy="73152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A real round trip, not a setTimeout</a:t>
            </a:r>
            <a:endParaRPr lang="en-US" sz="3000" dirty="0"/>
          </a:p>
        </p:txBody>
      </p:sp>
      <p:sp>
        <p:nvSpPr>
          <p:cNvPr id="4" name="Text 2"/>
          <p:cNvSpPr txBox="1"/>
          <p:nvPr/>
        </p:nvSpPr>
        <p:spPr>
          <a:xfrm>
            <a:off x="731520" y="1554480"/>
            <a:ext cx="9357055" cy="685800"/>
          </a:xfrm>
          <a:prstGeom prst="rect">
            <a:avLst/>
          </a:prstGeom>
          <a:noFill/>
          <a:ln/>
        </p:spPr>
        <p:txBody>
          <a:bodyPr wrap="square" lIns="0" tIns="0" rIns="0" bIns="0" rtlCol="0" anchor="t"/>
          <a:lstStyle/>
          <a:p>
            <a:pPr indent="0" marL="0">
              <a:buNone/>
            </a:pPr>
            <a:r>
              <a:rPr lang="en-US" sz="1400" dirty="0">
                <a:solidFill>
                  <a:srgbClr val="555555"/>
                </a:solidFill>
                <a:latin typeface="Arial" pitchFamily="34" charset="0"/>
                <a:ea typeface="Arial" pitchFamily="34" charset="-122"/>
                <a:cs typeface="Arial" pitchFamily="34" charset="-120"/>
              </a:rPr>
              <a:t>ADR-0004. Two server-side layers so every clause of the brief's sentence is observable and testable.</a:t>
            </a:r>
            <a:endParaRPr lang="en-US" sz="1400" dirty="0"/>
          </a:p>
        </p:txBody>
      </p:sp>
      <p:sp>
        <p:nvSpPr>
          <p:cNvPr id="5" name="Shape 3"/>
          <p:cNvSpPr/>
          <p:nvPr/>
        </p:nvSpPr>
        <p:spPr>
          <a:xfrm>
            <a:off x="731520" y="2331720"/>
            <a:ext cx="3271418" cy="2377440"/>
          </a:xfrm>
          <a:prstGeom prst="roundRect">
            <a:avLst>
              <a:gd name="adj" fmla="val 3846"/>
            </a:avLst>
          </a:prstGeom>
          <a:solidFill>
            <a:srgbClr val="F5F5F5"/>
          </a:solidFill>
          <a:ln w="12700">
            <a:solidFill>
              <a:srgbClr val="F5F5F5"/>
            </a:solidFill>
            <a:prstDash val="solid"/>
          </a:ln>
        </p:spPr>
      </p:sp>
      <p:sp>
        <p:nvSpPr>
          <p:cNvPr id="6" name="Text 4"/>
          <p:cNvSpPr txBox="1"/>
          <p:nvPr/>
        </p:nvSpPr>
        <p:spPr>
          <a:xfrm>
            <a:off x="960120" y="2514600"/>
            <a:ext cx="2814218" cy="365760"/>
          </a:xfrm>
          <a:prstGeom prst="rect">
            <a:avLst/>
          </a:prstGeom>
          <a:noFill/>
          <a:ln/>
        </p:spPr>
        <p:txBody>
          <a:bodyPr wrap="square" lIns="0" tIns="0" rIns="0" bIns="0" rtlCol="0" anchor="t"/>
          <a:lstStyle/>
          <a:p>
            <a:pPr indent="0" marL="0">
              <a:buNone/>
            </a:pPr>
            <a:r>
              <a:rPr lang="en-US" sz="1600" b="1" dirty="0">
                <a:solidFill>
                  <a:srgbClr val="1A1A1A"/>
                </a:solidFill>
                <a:latin typeface="Arial" pitchFamily="34" charset="0"/>
                <a:ea typeface="Arial" pitchFamily="34" charset="-122"/>
                <a:cs typeface="Arial" pitchFamily="34" charset="-120"/>
              </a:rPr>
              <a:t>Browser</a:t>
            </a:r>
            <a:endParaRPr lang="en-US" sz="1600" dirty="0"/>
          </a:p>
        </p:txBody>
      </p:sp>
      <p:sp>
        <p:nvSpPr>
          <p:cNvPr id="7" name="Text 5"/>
          <p:cNvSpPr txBox="1"/>
          <p:nvPr/>
        </p:nvSpPr>
        <p:spPr>
          <a:xfrm>
            <a:off x="960120" y="2971800"/>
            <a:ext cx="2814218" cy="1554480"/>
          </a:xfrm>
          <a:prstGeom prst="rect">
            <a:avLst/>
          </a:prstGeom>
          <a:noFill/>
          <a:ln/>
        </p:spPr>
        <p:txBody>
          <a:bodyPr wrap="square" lIns="0" tIns="0" rIns="0" bIns="0" rtlCol="0" anchor="t"/>
          <a:lstStyle/>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Typed client, AbortController, 10 s timeout</a:t>
            </a:r>
            <a:endParaRPr lang="en-US" sz="1200" dirty="0"/>
          </a:p>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Carries no key. Ever.</a:t>
            </a:r>
            <a:endParaRPr lang="en-US" sz="1200" dirty="0"/>
          </a:p>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Retries only on 429</a:t>
            </a:r>
            <a:endParaRPr lang="en-US" sz="1200" dirty="0"/>
          </a:p>
        </p:txBody>
      </p:sp>
      <p:sp>
        <p:nvSpPr>
          <p:cNvPr id="8" name="Text 6"/>
          <p:cNvSpPr txBox="1"/>
          <p:nvPr/>
        </p:nvSpPr>
        <p:spPr>
          <a:xfrm>
            <a:off x="4002938" y="3246120"/>
            <a:ext cx="457200" cy="548640"/>
          </a:xfrm>
          <a:prstGeom prst="rect">
            <a:avLst/>
          </a:prstGeom>
          <a:noFill/>
          <a:ln/>
        </p:spPr>
        <p:txBody>
          <a:bodyPr wrap="square" lIns="0" tIns="0" rIns="0" bIns="0" rtlCol="0" anchor="ctr"/>
          <a:lstStyle/>
          <a:p>
            <a:pPr algn="ctr" indent="0" marL="0">
              <a:buNone/>
            </a:pPr>
            <a:r>
              <a:rPr lang="en-US" sz="2400" dirty="0">
                <a:solidFill>
                  <a:srgbClr val="E8630A"/>
                </a:solidFill>
                <a:latin typeface="Arial" pitchFamily="34" charset="0"/>
                <a:ea typeface="Arial" pitchFamily="34" charset="-122"/>
                <a:cs typeface="Arial" pitchFamily="34" charset="-120"/>
              </a:rPr>
              <a:t>→</a:t>
            </a:r>
            <a:endParaRPr lang="en-US" sz="2400" dirty="0"/>
          </a:p>
        </p:txBody>
      </p:sp>
      <p:sp>
        <p:nvSpPr>
          <p:cNvPr id="9" name="Shape 7"/>
          <p:cNvSpPr/>
          <p:nvPr/>
        </p:nvSpPr>
        <p:spPr>
          <a:xfrm>
            <a:off x="4460138" y="2331720"/>
            <a:ext cx="3271418" cy="2377440"/>
          </a:xfrm>
          <a:prstGeom prst="roundRect">
            <a:avLst>
              <a:gd name="adj" fmla="val 3846"/>
            </a:avLst>
          </a:prstGeom>
          <a:solidFill>
            <a:srgbClr val="F5F5F5"/>
          </a:solidFill>
          <a:ln w="12700">
            <a:solidFill>
              <a:srgbClr val="F5F5F5"/>
            </a:solidFill>
            <a:prstDash val="solid"/>
          </a:ln>
        </p:spPr>
      </p:sp>
      <p:sp>
        <p:nvSpPr>
          <p:cNvPr id="10" name="Text 8"/>
          <p:cNvSpPr txBox="1"/>
          <p:nvPr/>
        </p:nvSpPr>
        <p:spPr>
          <a:xfrm>
            <a:off x="4688738" y="2514600"/>
            <a:ext cx="2814218" cy="365760"/>
          </a:xfrm>
          <a:prstGeom prst="rect">
            <a:avLst/>
          </a:prstGeom>
          <a:noFill/>
          <a:ln/>
        </p:spPr>
        <p:txBody>
          <a:bodyPr wrap="square" lIns="0" tIns="0" rIns="0" bIns="0" rtlCol="0" anchor="t"/>
          <a:lstStyle/>
          <a:p>
            <a:pPr indent="0" marL="0">
              <a:buNone/>
            </a:pPr>
            <a:r>
              <a:rPr lang="en-US" sz="1600" b="1" dirty="0">
                <a:solidFill>
                  <a:srgbClr val="1A1A1A"/>
                </a:solidFill>
                <a:latin typeface="Arial" pitchFamily="34" charset="0"/>
                <a:ea typeface="Arial" pitchFamily="34" charset="-122"/>
                <a:cs typeface="Arial" pitchFamily="34" charset="-120"/>
              </a:rPr>
              <a:t>Route Handler</a:t>
            </a:r>
            <a:endParaRPr lang="en-US" sz="1600" dirty="0"/>
          </a:p>
        </p:txBody>
      </p:sp>
      <p:sp>
        <p:nvSpPr>
          <p:cNvPr id="11" name="Text 9"/>
          <p:cNvSpPr txBox="1"/>
          <p:nvPr/>
        </p:nvSpPr>
        <p:spPr>
          <a:xfrm>
            <a:off x="4688738" y="2971800"/>
            <a:ext cx="2814218" cy="1554480"/>
          </a:xfrm>
          <a:prstGeom prst="rect">
            <a:avLst/>
          </a:prstGeom>
          <a:noFill/>
          <a:ln/>
        </p:spPr>
        <p:txBody>
          <a:bodyPr wrap="square" lIns="0" tIns="0" rIns="0" bIns="0" rtlCol="0" anchor="t"/>
          <a:lstStyle/>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POST /api/tasks · DELETE /api/tasks/:id</a:t>
            </a:r>
            <a:endParaRPr lang="en-US" sz="1200" dirty="0"/>
          </a:p>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Reads TASKS_API_KEY from server env</a:t>
            </a:r>
            <a:endParaRPr lang="en-US" sz="1200" dirty="0"/>
          </a:p>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Validates with Zod, 400 before upstream</a:t>
            </a:r>
            <a:endParaRPr lang="en-US" sz="1200" dirty="0"/>
          </a:p>
        </p:txBody>
      </p:sp>
      <p:sp>
        <p:nvSpPr>
          <p:cNvPr id="12" name="Text 10"/>
          <p:cNvSpPr txBox="1"/>
          <p:nvPr/>
        </p:nvSpPr>
        <p:spPr>
          <a:xfrm>
            <a:off x="7731557" y="3246120"/>
            <a:ext cx="457200" cy="548640"/>
          </a:xfrm>
          <a:prstGeom prst="rect">
            <a:avLst/>
          </a:prstGeom>
          <a:noFill/>
          <a:ln/>
        </p:spPr>
        <p:txBody>
          <a:bodyPr wrap="square" lIns="0" tIns="0" rIns="0" bIns="0" rtlCol="0" anchor="ctr"/>
          <a:lstStyle/>
          <a:p>
            <a:pPr algn="ctr" indent="0" marL="0">
              <a:buNone/>
            </a:pPr>
            <a:r>
              <a:rPr lang="en-US" sz="2400" dirty="0">
                <a:solidFill>
                  <a:srgbClr val="E8630A"/>
                </a:solidFill>
                <a:latin typeface="Arial" pitchFamily="34" charset="0"/>
                <a:ea typeface="Arial" pitchFamily="34" charset="-122"/>
                <a:cs typeface="Arial" pitchFamily="34" charset="-120"/>
              </a:rPr>
              <a:t>→</a:t>
            </a:r>
            <a:endParaRPr lang="en-US" sz="2400" dirty="0"/>
          </a:p>
        </p:txBody>
      </p:sp>
      <p:sp>
        <p:nvSpPr>
          <p:cNvPr id="13" name="Shape 11"/>
          <p:cNvSpPr/>
          <p:nvPr/>
        </p:nvSpPr>
        <p:spPr>
          <a:xfrm>
            <a:off x="8188757" y="2331720"/>
            <a:ext cx="3271418" cy="2377440"/>
          </a:xfrm>
          <a:prstGeom prst="roundRect">
            <a:avLst>
              <a:gd name="adj" fmla="val 3846"/>
            </a:avLst>
          </a:prstGeom>
          <a:solidFill>
            <a:srgbClr val="F5F5F5"/>
          </a:solidFill>
          <a:ln w="12700">
            <a:solidFill>
              <a:srgbClr val="F5F5F5"/>
            </a:solidFill>
            <a:prstDash val="solid"/>
          </a:ln>
        </p:spPr>
      </p:sp>
      <p:sp>
        <p:nvSpPr>
          <p:cNvPr id="14" name="Text 12"/>
          <p:cNvSpPr txBox="1"/>
          <p:nvPr/>
        </p:nvSpPr>
        <p:spPr>
          <a:xfrm>
            <a:off x="8417357" y="2514600"/>
            <a:ext cx="2814218" cy="365760"/>
          </a:xfrm>
          <a:prstGeom prst="rect">
            <a:avLst/>
          </a:prstGeom>
          <a:noFill/>
          <a:ln/>
        </p:spPr>
        <p:txBody>
          <a:bodyPr wrap="square" lIns="0" tIns="0" rIns="0" bIns="0" rtlCol="0" anchor="t"/>
          <a:lstStyle/>
          <a:p>
            <a:pPr indent="0" marL="0">
              <a:buNone/>
            </a:pPr>
            <a:r>
              <a:rPr lang="en-US" sz="1600" b="1" dirty="0">
                <a:solidFill>
                  <a:srgbClr val="1A1A1A"/>
                </a:solidFill>
                <a:latin typeface="Arial" pitchFamily="34" charset="0"/>
                <a:ea typeface="Arial" pitchFamily="34" charset="-122"/>
                <a:cs typeface="Arial" pitchFamily="34" charset="-120"/>
              </a:rPr>
              <a:t>Simulated upstream</a:t>
            </a:r>
            <a:endParaRPr lang="en-US" sz="1600" dirty="0"/>
          </a:p>
        </p:txBody>
      </p:sp>
      <p:sp>
        <p:nvSpPr>
          <p:cNvPr id="15" name="Text 13"/>
          <p:cNvSpPr txBox="1"/>
          <p:nvPr/>
        </p:nvSpPr>
        <p:spPr>
          <a:xfrm>
            <a:off x="8417357" y="2971800"/>
            <a:ext cx="2814218" cy="1554480"/>
          </a:xfrm>
          <a:prstGeom prst="rect">
            <a:avLst/>
          </a:prstGeom>
          <a:noFill/>
          <a:ln/>
        </p:spPr>
        <p:txBody>
          <a:bodyPr wrap="square" lIns="0" tIns="0" rIns="0" bIns="0" rtlCol="0" anchor="t"/>
          <a:lstStyle/>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Demands the key: 401 (constant-time compare)</a:t>
            </a:r>
            <a:endParaRPr lang="en-US" sz="1200" dirty="0"/>
          </a:p>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Fixed window 5 / 10 s: 429 + Retry-After</a:t>
            </a:r>
            <a:endParaRPr lang="en-US" sz="1200" dirty="0"/>
          </a:p>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Latency and scripted failures, injectable</a:t>
            </a:r>
            <a:endParaRPr lang="en-US" sz="1200" dirty="0"/>
          </a:p>
        </p:txBody>
      </p:sp>
      <p:sp>
        <p:nvSpPr>
          <p:cNvPr id="16" name="Shape 14"/>
          <p:cNvSpPr/>
          <p:nvPr/>
        </p:nvSpPr>
        <p:spPr>
          <a:xfrm>
            <a:off x="731520" y="5029200"/>
            <a:ext cx="5181448" cy="0"/>
          </a:xfrm>
          <a:prstGeom prst="line">
            <a:avLst/>
          </a:prstGeom>
          <a:noFill/>
          <a:ln w="19050">
            <a:solidFill>
              <a:srgbClr val="1A1A1A"/>
            </a:solidFill>
            <a:prstDash val="solid"/>
          </a:ln>
        </p:spPr>
      </p:sp>
      <p:sp>
        <p:nvSpPr>
          <p:cNvPr id="17" name="Text 15"/>
          <p:cNvSpPr txBox="1"/>
          <p:nvPr/>
        </p:nvSpPr>
        <p:spPr>
          <a:xfrm>
            <a:off x="731520" y="5138928"/>
            <a:ext cx="5181448" cy="91440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The backend-for-frontend holds the credential; the upstream is the inventory, tax or payment service that demands it.</a:t>
            </a:r>
            <a:endParaRPr lang="en-US" sz="1250" dirty="0"/>
          </a:p>
        </p:txBody>
      </p:sp>
      <p:sp>
        <p:nvSpPr>
          <p:cNvPr id="18" name="Shape 16"/>
          <p:cNvSpPr/>
          <p:nvPr/>
        </p:nvSpPr>
        <p:spPr>
          <a:xfrm>
            <a:off x="6278728" y="5029200"/>
            <a:ext cx="5181448" cy="0"/>
          </a:xfrm>
          <a:prstGeom prst="line">
            <a:avLst/>
          </a:prstGeom>
          <a:noFill/>
          <a:ln w="19050">
            <a:solidFill>
              <a:srgbClr val="1A1A1A"/>
            </a:solidFill>
            <a:prstDash val="solid"/>
          </a:ln>
        </p:spPr>
      </p:sp>
      <p:sp>
        <p:nvSpPr>
          <p:cNvPr id="19" name="Text 17"/>
          <p:cNvSpPr txBox="1"/>
          <p:nvPr/>
        </p:nvSpPr>
        <p:spPr>
          <a:xfrm>
            <a:off x="6278728" y="5138928"/>
            <a:ext cx="5181448" cy="91440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Nothing persists server-side. localStorage stays the system of record, per the brief.</a:t>
            </a:r>
            <a:endParaRPr lang="en-US" sz="1250" dirty="0"/>
          </a:p>
        </p:txBody>
      </p:sp>
      <p:sp>
        <p:nvSpPr>
          <p:cNvPr id="20" name="Text 18"/>
          <p:cNvSpPr txBox="1"/>
          <p:nvPr/>
        </p:nvSpPr>
        <p:spPr>
          <a:xfrm>
            <a:off x="10088575" y="6355080"/>
            <a:ext cx="1371600" cy="27432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8 / 19</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731520" y="411480"/>
            <a:ext cx="10728655" cy="274320"/>
          </a:xfrm>
          <a:prstGeom prst="rect">
            <a:avLst/>
          </a:prstGeom>
          <a:noFill/>
          <a:ln/>
        </p:spPr>
        <p:txBody>
          <a:bodyPr wrap="square" lIns="0" tIns="0" rIns="0" bIns="0" rtlCol="0" anchor="t"/>
          <a:lstStyle/>
          <a:p>
            <a:pPr indent="0" marL="0">
              <a:buNone/>
            </a:pPr>
            <a:r>
              <a:rPr lang="en-US" sz="1100" spc="200" kern="0" dirty="0">
                <a:solidFill>
                  <a:srgbClr val="8A8A8A"/>
                </a:solidFill>
                <a:latin typeface="Arial" pitchFamily="34" charset="0"/>
                <a:ea typeface="Arial" pitchFamily="34" charset="-122"/>
                <a:cs typeface="Arial" pitchFamily="34" charset="-120"/>
              </a:rPr>
              <a:t>3 · THE API SIMULATION</a:t>
            </a:r>
            <a:endParaRPr lang="en-US" sz="1100" dirty="0"/>
          </a:p>
        </p:txBody>
      </p:sp>
      <p:sp>
        <p:nvSpPr>
          <p:cNvPr id="3" name="Text 1"/>
          <p:cNvSpPr txBox="1"/>
          <p:nvPr/>
        </p:nvSpPr>
        <p:spPr>
          <a:xfrm>
            <a:off x="731520" y="731520"/>
            <a:ext cx="10728655" cy="731520"/>
          </a:xfrm>
          <a:prstGeom prst="rect">
            <a:avLst/>
          </a:prstGeom>
          <a:noFill/>
          <a:ln/>
        </p:spPr>
        <p:txBody>
          <a:bodyPr wrap="square" lIns="0" tIns="0" rIns="0" bIns="0" rtlCol="0" anchor="ctr"/>
          <a:lstStyle/>
          <a:p>
            <a:pPr indent="0" marL="0">
              <a:buNone/>
            </a:pPr>
            <a:r>
              <a:rPr lang="en-US" sz="2500" b="1" dirty="0">
                <a:solidFill>
                  <a:srgbClr val="1A1A1A"/>
                </a:solidFill>
                <a:latin typeface="Arial" pitchFamily="34" charset="0"/>
                <a:ea typeface="Arial" pitchFamily="34" charset="-122"/>
                <a:cs typeface="Arial" pitchFamily="34" charset="-120"/>
              </a:rPr>
              <a:t>The key never reaches the browser, and a test proves it</a:t>
            </a:r>
            <a:endParaRPr lang="en-US" sz="2500" dirty="0"/>
          </a:p>
        </p:txBody>
      </p:sp>
      <p:sp>
        <p:nvSpPr>
          <p:cNvPr id="4" name="Text 2"/>
          <p:cNvSpPr txBox="1"/>
          <p:nvPr/>
        </p:nvSpPr>
        <p:spPr>
          <a:xfrm>
            <a:off x="731520" y="1554480"/>
            <a:ext cx="9357055" cy="685800"/>
          </a:xfrm>
          <a:prstGeom prst="rect">
            <a:avLst/>
          </a:prstGeom>
          <a:noFill/>
          <a:ln/>
        </p:spPr>
        <p:txBody>
          <a:bodyPr wrap="square" lIns="0" tIns="0" rIns="0" bIns="0" rtlCol="0" anchor="t"/>
          <a:lstStyle/>
          <a:p>
            <a:pPr indent="0" marL="0">
              <a:buNone/>
            </a:pPr>
            <a:r>
              <a:rPr lang="en-US" sz="1400" dirty="0">
                <a:solidFill>
                  <a:srgbClr val="555555"/>
                </a:solidFill>
                <a:latin typeface="Arial" pitchFamily="34" charset="0"/>
                <a:ea typeface="Arial" pitchFamily="34" charset="-122"/>
                <a:cs typeface="Arial" pitchFamily="34" charset="-120"/>
              </a:rPr>
              <a:t>Secret hygiene that is only a convention decays. Secret hygiene with a failing test does not.</a:t>
            </a:r>
            <a:endParaRPr lang="en-US" sz="1400" dirty="0"/>
          </a:p>
        </p:txBody>
      </p:sp>
      <p:sp>
        <p:nvSpPr>
          <p:cNvPr id="5" name="Shape 3"/>
          <p:cNvSpPr/>
          <p:nvPr/>
        </p:nvSpPr>
        <p:spPr>
          <a:xfrm>
            <a:off x="731520" y="2331720"/>
            <a:ext cx="5250028" cy="1828800"/>
          </a:xfrm>
          <a:prstGeom prst="roundRect">
            <a:avLst>
              <a:gd name="adj" fmla="val 5000"/>
            </a:avLst>
          </a:prstGeom>
          <a:solidFill>
            <a:srgbClr val="F5F5F5"/>
          </a:solidFill>
          <a:ln w="12700">
            <a:solidFill>
              <a:srgbClr val="F5F5F5"/>
            </a:solidFill>
            <a:prstDash val="solid"/>
          </a:ln>
        </p:spPr>
      </p:sp>
      <p:sp>
        <p:nvSpPr>
          <p:cNvPr id="6" name="Text 4"/>
          <p:cNvSpPr txBox="1"/>
          <p:nvPr/>
        </p:nvSpPr>
        <p:spPr>
          <a:xfrm>
            <a:off x="960120" y="2514600"/>
            <a:ext cx="4792828" cy="36576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Never NEXT_PUBLIC_</a:t>
            </a:r>
            <a:endParaRPr lang="en-US" sz="1500" dirty="0"/>
          </a:p>
        </p:txBody>
      </p:sp>
      <p:sp>
        <p:nvSpPr>
          <p:cNvPr id="7" name="Text 5"/>
          <p:cNvSpPr txBox="1"/>
          <p:nvPr/>
        </p:nvSpPr>
        <p:spPr>
          <a:xfrm>
            <a:off x="960120" y="2898648"/>
            <a:ext cx="4792828" cy="109728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Read inside a Route Handler only. No client module imports it. The browser request type has no key field.</a:t>
            </a:r>
            <a:endParaRPr lang="en-US" sz="1250" dirty="0"/>
          </a:p>
        </p:txBody>
      </p:sp>
      <p:sp>
        <p:nvSpPr>
          <p:cNvPr id="8" name="Shape 6"/>
          <p:cNvSpPr/>
          <p:nvPr/>
        </p:nvSpPr>
        <p:spPr>
          <a:xfrm>
            <a:off x="6210148" y="2331720"/>
            <a:ext cx="5250028" cy="1828800"/>
          </a:xfrm>
          <a:prstGeom prst="roundRect">
            <a:avLst>
              <a:gd name="adj" fmla="val 5000"/>
            </a:avLst>
          </a:prstGeom>
          <a:solidFill>
            <a:srgbClr val="F5F5F5"/>
          </a:solidFill>
          <a:ln w="12700">
            <a:solidFill>
              <a:srgbClr val="F5F5F5"/>
            </a:solidFill>
            <a:prstDash val="solid"/>
          </a:ln>
        </p:spPr>
      </p:sp>
      <p:sp>
        <p:nvSpPr>
          <p:cNvPr id="9" name="Text 7"/>
          <p:cNvSpPr txBox="1"/>
          <p:nvPr/>
        </p:nvSpPr>
        <p:spPr>
          <a:xfrm>
            <a:off x="6438748" y="2514600"/>
            <a:ext cx="4792828" cy="36576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AC-API-3, against build output</a:t>
            </a:r>
            <a:endParaRPr lang="en-US" sz="1500" dirty="0"/>
          </a:p>
        </p:txBody>
      </p:sp>
      <p:sp>
        <p:nvSpPr>
          <p:cNvPr id="10" name="Text 8"/>
          <p:cNvSpPr txBox="1"/>
          <p:nvPr/>
        </p:nvSpPr>
        <p:spPr>
          <a:xfrm>
            <a:off x="6438748" y="2898648"/>
            <a:ext cx="4792828" cy="109728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test/bundle/no-secret-in-bundle.test.ts searches every client chunk in .next/ for the key's value and its variable name. It fails, never skips, without a production build.</a:t>
            </a:r>
            <a:endParaRPr lang="en-US" sz="1250" dirty="0"/>
          </a:p>
        </p:txBody>
      </p:sp>
      <p:sp>
        <p:nvSpPr>
          <p:cNvPr id="11" name="Shape 9"/>
          <p:cNvSpPr/>
          <p:nvPr/>
        </p:nvSpPr>
        <p:spPr>
          <a:xfrm>
            <a:off x="731520" y="4389120"/>
            <a:ext cx="5250028" cy="1828800"/>
          </a:xfrm>
          <a:prstGeom prst="roundRect">
            <a:avLst>
              <a:gd name="adj" fmla="val 5000"/>
            </a:avLst>
          </a:prstGeom>
          <a:solidFill>
            <a:srgbClr val="F5F5F5"/>
          </a:solidFill>
          <a:ln w="12700">
            <a:solidFill>
              <a:srgbClr val="F5F5F5"/>
            </a:solidFill>
            <a:prstDash val="solid"/>
          </a:ln>
        </p:spPr>
      </p:sp>
      <p:sp>
        <p:nvSpPr>
          <p:cNvPr id="12" name="Text 10"/>
          <p:cNvSpPr txBox="1"/>
          <p:nvPr/>
        </p:nvSpPr>
        <p:spPr>
          <a:xfrm>
            <a:off x="960120" y="4572000"/>
            <a:ext cx="4792828" cy="36576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CI runs it</a:t>
            </a:r>
            <a:endParaRPr lang="en-US" sz="1500" dirty="0"/>
          </a:p>
        </p:txBody>
      </p:sp>
      <p:sp>
        <p:nvSpPr>
          <p:cNvPr id="13" name="Text 11"/>
          <p:cNvSpPr txBox="1"/>
          <p:nvPr/>
        </p:nvSpPr>
        <p:spPr>
          <a:xfrm>
            <a:off x="960120" y="4956048"/>
            <a:ext cx="4792828" cy="109728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typecheck → lint → test → next build → bundle test. Re-run against the deployed artifact at T-12: absent from every chunk.</a:t>
            </a:r>
            <a:endParaRPr lang="en-US" sz="1250" dirty="0"/>
          </a:p>
        </p:txBody>
      </p:sp>
      <p:sp>
        <p:nvSpPr>
          <p:cNvPr id="14" name="Shape 12"/>
          <p:cNvSpPr/>
          <p:nvPr/>
        </p:nvSpPr>
        <p:spPr>
          <a:xfrm>
            <a:off x="6210148" y="4389120"/>
            <a:ext cx="5250028" cy="1828800"/>
          </a:xfrm>
          <a:prstGeom prst="roundRect">
            <a:avLst>
              <a:gd name="adj" fmla="val 5000"/>
            </a:avLst>
          </a:prstGeom>
          <a:solidFill>
            <a:srgbClr val="F5F5F5"/>
          </a:solidFill>
          <a:ln w="12700">
            <a:solidFill>
              <a:srgbClr val="F5F5F5"/>
            </a:solidFill>
            <a:prstDash val="solid"/>
          </a:ln>
        </p:spPr>
      </p:sp>
      <p:sp>
        <p:nvSpPr>
          <p:cNvPr id="15" name="Text 13"/>
          <p:cNvSpPr txBox="1"/>
          <p:nvPr/>
        </p:nvSpPr>
        <p:spPr>
          <a:xfrm>
            <a:off x="6438748" y="4572000"/>
            <a:ext cx="4792828" cy="36576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Checkout analogue</a:t>
            </a:r>
            <a:endParaRPr lang="en-US" sz="1500" dirty="0"/>
          </a:p>
        </p:txBody>
      </p:sp>
      <p:sp>
        <p:nvSpPr>
          <p:cNvPr id="16" name="Text 14"/>
          <p:cNvSpPr txBox="1"/>
          <p:nvPr/>
        </p:nvSpPr>
        <p:spPr>
          <a:xfrm>
            <a:off x="6438748" y="4956048"/>
            <a:ext cx="4792828" cy="109728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Payment and inventory credentials in a bundle every shopper downloads. The only test in the suite that proves an absence is the most important one in it.</a:t>
            </a:r>
            <a:endParaRPr lang="en-US" sz="1250" dirty="0"/>
          </a:p>
        </p:txBody>
      </p:sp>
      <p:sp>
        <p:nvSpPr>
          <p:cNvPr id="17" name="Text 15"/>
          <p:cNvSpPr txBox="1"/>
          <p:nvPr/>
        </p:nvSpPr>
        <p:spPr>
          <a:xfrm>
            <a:off x="10088575" y="6355080"/>
            <a:ext cx="1371600" cy="27432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9 / 19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731520" y="411480"/>
            <a:ext cx="10728655" cy="274320"/>
          </a:xfrm>
          <a:prstGeom prst="rect">
            <a:avLst/>
          </a:prstGeom>
          <a:noFill/>
          <a:ln/>
        </p:spPr>
        <p:txBody>
          <a:bodyPr wrap="square" lIns="0" tIns="0" rIns="0" bIns="0" rtlCol="0" anchor="t"/>
          <a:lstStyle/>
          <a:p>
            <a:pPr indent="0" marL="0">
              <a:buNone/>
            </a:pPr>
            <a:r>
              <a:rPr lang="en-US" sz="1100" spc="200" kern="0" dirty="0">
                <a:solidFill>
                  <a:srgbClr val="8A8A8A"/>
                </a:solidFill>
                <a:latin typeface="Arial" pitchFamily="34" charset="0"/>
                <a:ea typeface="Arial" pitchFamily="34" charset="-122"/>
                <a:cs typeface="Arial" pitchFamily="34" charset="-120"/>
              </a:rPr>
              <a:t>3 · THE API SIMULATION</a:t>
            </a:r>
            <a:endParaRPr lang="en-US" sz="1100" dirty="0"/>
          </a:p>
        </p:txBody>
      </p:sp>
      <p:sp>
        <p:nvSpPr>
          <p:cNvPr id="3" name="Text 1"/>
          <p:cNvSpPr txBox="1"/>
          <p:nvPr/>
        </p:nvSpPr>
        <p:spPr>
          <a:xfrm>
            <a:off x="731520" y="731520"/>
            <a:ext cx="10728655" cy="731520"/>
          </a:xfrm>
          <a:prstGeom prst="rect">
            <a:avLst/>
          </a:prstGeom>
          <a:noFill/>
          <a:ln/>
        </p:spPr>
        <p:txBody>
          <a:bodyPr wrap="square" lIns="0" tIns="0" rIns="0" bIns="0" rtlCol="0" anchor="ctr"/>
          <a:lstStyle/>
          <a:p>
            <a:pPr indent="0" marL="0">
              <a:buNone/>
            </a:pPr>
            <a:r>
              <a:rPr lang="en-US" sz="2500" b="1" dirty="0">
                <a:solidFill>
                  <a:srgbClr val="1A1A1A"/>
                </a:solidFill>
                <a:latin typeface="Arial" pitchFamily="34" charset="0"/>
                <a:ea typeface="Arial" pitchFamily="34" charset="-122"/>
                <a:cs typeface="Arial" pitchFamily="34" charset="-120"/>
              </a:rPr>
              <a:t>429, Retry-After, and why full jitter is the eCommerce point</a:t>
            </a:r>
            <a:endParaRPr lang="en-US" sz="2500" dirty="0"/>
          </a:p>
        </p:txBody>
      </p:sp>
      <p:sp>
        <p:nvSpPr>
          <p:cNvPr id="4" name="Text 2"/>
          <p:cNvSpPr txBox="1"/>
          <p:nvPr/>
        </p:nvSpPr>
        <p:spPr>
          <a:xfrm>
            <a:off x="731520" y="1554480"/>
            <a:ext cx="9357055" cy="685800"/>
          </a:xfrm>
          <a:prstGeom prst="rect">
            <a:avLst/>
          </a:prstGeom>
          <a:noFill/>
          <a:ln/>
        </p:spPr>
        <p:txBody>
          <a:bodyPr wrap="square" lIns="0" tIns="0" rIns="0" bIns="0" rtlCol="0" anchor="t"/>
          <a:lstStyle/>
          <a:p>
            <a:pPr indent="0" marL="0">
              <a:buNone/>
            </a:pPr>
            <a:r>
              <a:rPr lang="en-US" sz="1400" dirty="0">
                <a:solidFill>
                  <a:srgbClr val="555555"/>
                </a:solidFill>
                <a:latin typeface="Arial" pitchFamily="34" charset="0"/>
                <a:ea typeface="Arial" pitchFamily="34" charset="-122"/>
                <a:cs typeface="Arial" pitchFamily="34" charset="-120"/>
              </a:rPr>
              <a:t>wait = max(Retry-After, random() × min(8 s, 500 ms × 2^(n−1))), at most 4 attempts. The server's number is a floor, never something to jitter below.</a:t>
            </a:r>
            <a:endParaRPr lang="en-US" sz="1400" dirty="0"/>
          </a:p>
        </p:txBody>
      </p:sp>
      <p:sp>
        <p:nvSpPr>
          <p:cNvPr id="5" name="Text 3"/>
          <p:cNvSpPr txBox="1"/>
          <p:nvPr/>
        </p:nvSpPr>
        <p:spPr>
          <a:xfrm>
            <a:off x="731520" y="2331720"/>
            <a:ext cx="5578901" cy="365760"/>
          </a:xfrm>
          <a:prstGeom prst="rect">
            <a:avLst/>
          </a:prstGeom>
          <a:noFill/>
          <a:ln/>
        </p:spPr>
        <p:txBody>
          <a:bodyPr wrap="square" lIns="0" tIns="0" rIns="0" bIns="0" rtlCol="0" anchor="t"/>
          <a:lstStyle/>
          <a:p>
            <a:pPr indent="0" marL="0">
              <a:buNone/>
            </a:pPr>
            <a:r>
              <a:rPr lang="en-US" sz="1300" b="1" dirty="0">
                <a:solidFill>
                  <a:srgbClr val="1A1A1A"/>
                </a:solidFill>
                <a:latin typeface="Arial" pitchFamily="34" charset="0"/>
                <a:ea typeface="Arial" pitchFamily="34" charset="-122"/>
                <a:cs typeface="Arial" pitchFamily="34" charset="-120"/>
              </a:rPr>
              <a:t>Ten clients rate-limited in the same second. When does each retry?</a:t>
            </a:r>
            <a:endParaRPr lang="en-US" sz="1300" dirty="0"/>
          </a:p>
        </p:txBody>
      </p:sp>
      <p:sp>
        <p:nvSpPr>
          <p:cNvPr id="6" name="Text 4"/>
          <p:cNvSpPr txBox="1"/>
          <p:nvPr/>
        </p:nvSpPr>
        <p:spPr>
          <a:xfrm>
            <a:off x="731520" y="2926080"/>
            <a:ext cx="2011680" cy="320040"/>
          </a:xfrm>
          <a:prstGeom prst="rect">
            <a:avLst/>
          </a:prstGeom>
          <a:noFill/>
          <a:ln/>
        </p:spPr>
        <p:txBody>
          <a:bodyPr wrap="square" lIns="0" tIns="0" rIns="0" bIns="0" rtlCol="0" anchor="ctr"/>
          <a:lstStyle/>
          <a:p>
            <a:pPr indent="0" marL="0">
              <a:buNone/>
            </a:pPr>
            <a:r>
              <a:rPr lang="en-US" sz="1150" dirty="0">
                <a:solidFill>
                  <a:srgbClr val="555555"/>
                </a:solidFill>
                <a:latin typeface="Arial" pitchFamily="34" charset="0"/>
                <a:ea typeface="Arial" pitchFamily="34" charset="-122"/>
                <a:cs typeface="Arial" pitchFamily="34" charset="-120"/>
              </a:rPr>
              <a:t>Backoff, no jitter</a:t>
            </a:r>
            <a:endParaRPr lang="en-US" sz="1150" dirty="0"/>
          </a:p>
        </p:txBody>
      </p:sp>
      <p:sp>
        <p:nvSpPr>
          <p:cNvPr id="7" name="Shape 5"/>
          <p:cNvSpPr/>
          <p:nvPr/>
        </p:nvSpPr>
        <p:spPr>
          <a:xfrm>
            <a:off x="2834640" y="3063240"/>
            <a:ext cx="3292901" cy="0"/>
          </a:xfrm>
          <a:prstGeom prst="line">
            <a:avLst/>
          </a:prstGeom>
          <a:noFill/>
          <a:ln w="12700">
            <a:solidFill>
              <a:srgbClr val="D0D0D0"/>
            </a:solidFill>
            <a:prstDash val="solid"/>
          </a:ln>
        </p:spPr>
      </p:sp>
      <p:sp>
        <p:nvSpPr>
          <p:cNvPr id="8" name="Shape 6"/>
          <p:cNvSpPr/>
          <p:nvPr/>
        </p:nvSpPr>
        <p:spPr>
          <a:xfrm>
            <a:off x="6026957" y="2962656"/>
            <a:ext cx="201168" cy="201168"/>
          </a:xfrm>
          <a:prstGeom prst="ellipse">
            <a:avLst/>
          </a:prstGeom>
          <a:solidFill>
            <a:srgbClr val="1A1A1A">
              <a:alpha val="20000"/>
            </a:srgbClr>
          </a:solidFill>
          <a:ln w="12700">
            <a:solidFill>
              <a:srgbClr val="1A1A1A">
                <a:alpha val="20000"/>
              </a:srgbClr>
            </a:solidFill>
            <a:prstDash val="solid"/>
          </a:ln>
        </p:spPr>
      </p:sp>
      <p:sp>
        <p:nvSpPr>
          <p:cNvPr id="9" name="Shape 7"/>
          <p:cNvSpPr/>
          <p:nvPr/>
        </p:nvSpPr>
        <p:spPr>
          <a:xfrm>
            <a:off x="6026957" y="2962656"/>
            <a:ext cx="201168" cy="201168"/>
          </a:xfrm>
          <a:prstGeom prst="ellipse">
            <a:avLst/>
          </a:prstGeom>
          <a:solidFill>
            <a:srgbClr val="1A1A1A">
              <a:alpha val="20000"/>
            </a:srgbClr>
          </a:solidFill>
          <a:ln w="12700">
            <a:solidFill>
              <a:srgbClr val="1A1A1A">
                <a:alpha val="20000"/>
              </a:srgbClr>
            </a:solidFill>
            <a:prstDash val="solid"/>
          </a:ln>
        </p:spPr>
      </p:sp>
      <p:sp>
        <p:nvSpPr>
          <p:cNvPr id="10" name="Shape 8"/>
          <p:cNvSpPr/>
          <p:nvPr/>
        </p:nvSpPr>
        <p:spPr>
          <a:xfrm>
            <a:off x="6026957" y="2962656"/>
            <a:ext cx="201168" cy="201168"/>
          </a:xfrm>
          <a:prstGeom prst="ellipse">
            <a:avLst/>
          </a:prstGeom>
          <a:solidFill>
            <a:srgbClr val="1A1A1A">
              <a:alpha val="20000"/>
            </a:srgbClr>
          </a:solidFill>
          <a:ln w="12700">
            <a:solidFill>
              <a:srgbClr val="1A1A1A">
                <a:alpha val="20000"/>
              </a:srgbClr>
            </a:solidFill>
            <a:prstDash val="solid"/>
          </a:ln>
        </p:spPr>
      </p:sp>
      <p:sp>
        <p:nvSpPr>
          <p:cNvPr id="11" name="Shape 9"/>
          <p:cNvSpPr/>
          <p:nvPr/>
        </p:nvSpPr>
        <p:spPr>
          <a:xfrm>
            <a:off x="6026957" y="2962656"/>
            <a:ext cx="201168" cy="201168"/>
          </a:xfrm>
          <a:prstGeom prst="ellipse">
            <a:avLst/>
          </a:prstGeom>
          <a:solidFill>
            <a:srgbClr val="1A1A1A">
              <a:alpha val="20000"/>
            </a:srgbClr>
          </a:solidFill>
          <a:ln w="12700">
            <a:solidFill>
              <a:srgbClr val="1A1A1A">
                <a:alpha val="20000"/>
              </a:srgbClr>
            </a:solidFill>
            <a:prstDash val="solid"/>
          </a:ln>
        </p:spPr>
      </p:sp>
      <p:sp>
        <p:nvSpPr>
          <p:cNvPr id="12" name="Shape 10"/>
          <p:cNvSpPr/>
          <p:nvPr/>
        </p:nvSpPr>
        <p:spPr>
          <a:xfrm>
            <a:off x="6026957" y="2962656"/>
            <a:ext cx="201168" cy="201168"/>
          </a:xfrm>
          <a:prstGeom prst="ellipse">
            <a:avLst/>
          </a:prstGeom>
          <a:solidFill>
            <a:srgbClr val="1A1A1A">
              <a:alpha val="20000"/>
            </a:srgbClr>
          </a:solidFill>
          <a:ln w="12700">
            <a:solidFill>
              <a:srgbClr val="1A1A1A">
                <a:alpha val="20000"/>
              </a:srgbClr>
            </a:solidFill>
            <a:prstDash val="solid"/>
          </a:ln>
        </p:spPr>
      </p:sp>
      <p:sp>
        <p:nvSpPr>
          <p:cNvPr id="13" name="Shape 11"/>
          <p:cNvSpPr/>
          <p:nvPr/>
        </p:nvSpPr>
        <p:spPr>
          <a:xfrm>
            <a:off x="6026957" y="2962656"/>
            <a:ext cx="201168" cy="201168"/>
          </a:xfrm>
          <a:prstGeom prst="ellipse">
            <a:avLst/>
          </a:prstGeom>
          <a:solidFill>
            <a:srgbClr val="1A1A1A">
              <a:alpha val="20000"/>
            </a:srgbClr>
          </a:solidFill>
          <a:ln w="12700">
            <a:solidFill>
              <a:srgbClr val="1A1A1A">
                <a:alpha val="20000"/>
              </a:srgbClr>
            </a:solidFill>
            <a:prstDash val="solid"/>
          </a:ln>
        </p:spPr>
      </p:sp>
      <p:sp>
        <p:nvSpPr>
          <p:cNvPr id="14" name="Shape 12"/>
          <p:cNvSpPr/>
          <p:nvPr/>
        </p:nvSpPr>
        <p:spPr>
          <a:xfrm>
            <a:off x="6026957" y="2962656"/>
            <a:ext cx="201168" cy="201168"/>
          </a:xfrm>
          <a:prstGeom prst="ellipse">
            <a:avLst/>
          </a:prstGeom>
          <a:solidFill>
            <a:srgbClr val="1A1A1A">
              <a:alpha val="20000"/>
            </a:srgbClr>
          </a:solidFill>
          <a:ln w="12700">
            <a:solidFill>
              <a:srgbClr val="1A1A1A">
                <a:alpha val="20000"/>
              </a:srgbClr>
            </a:solidFill>
            <a:prstDash val="solid"/>
          </a:ln>
        </p:spPr>
      </p:sp>
      <p:sp>
        <p:nvSpPr>
          <p:cNvPr id="15" name="Shape 13"/>
          <p:cNvSpPr/>
          <p:nvPr/>
        </p:nvSpPr>
        <p:spPr>
          <a:xfrm>
            <a:off x="6026957" y="2962656"/>
            <a:ext cx="201168" cy="201168"/>
          </a:xfrm>
          <a:prstGeom prst="ellipse">
            <a:avLst/>
          </a:prstGeom>
          <a:solidFill>
            <a:srgbClr val="1A1A1A">
              <a:alpha val="20000"/>
            </a:srgbClr>
          </a:solidFill>
          <a:ln w="12700">
            <a:solidFill>
              <a:srgbClr val="1A1A1A">
                <a:alpha val="20000"/>
              </a:srgbClr>
            </a:solidFill>
            <a:prstDash val="solid"/>
          </a:ln>
        </p:spPr>
      </p:sp>
      <p:sp>
        <p:nvSpPr>
          <p:cNvPr id="16" name="Shape 14"/>
          <p:cNvSpPr/>
          <p:nvPr/>
        </p:nvSpPr>
        <p:spPr>
          <a:xfrm>
            <a:off x="6026957" y="2962656"/>
            <a:ext cx="201168" cy="201168"/>
          </a:xfrm>
          <a:prstGeom prst="ellipse">
            <a:avLst/>
          </a:prstGeom>
          <a:solidFill>
            <a:srgbClr val="1A1A1A">
              <a:alpha val="20000"/>
            </a:srgbClr>
          </a:solidFill>
          <a:ln w="12700">
            <a:solidFill>
              <a:srgbClr val="1A1A1A">
                <a:alpha val="20000"/>
              </a:srgbClr>
            </a:solidFill>
            <a:prstDash val="solid"/>
          </a:ln>
        </p:spPr>
      </p:sp>
      <p:sp>
        <p:nvSpPr>
          <p:cNvPr id="17" name="Shape 15"/>
          <p:cNvSpPr/>
          <p:nvPr/>
        </p:nvSpPr>
        <p:spPr>
          <a:xfrm>
            <a:off x="6026957" y="2962656"/>
            <a:ext cx="201168" cy="201168"/>
          </a:xfrm>
          <a:prstGeom prst="ellipse">
            <a:avLst/>
          </a:prstGeom>
          <a:solidFill>
            <a:srgbClr val="1A1A1A">
              <a:alpha val="20000"/>
            </a:srgbClr>
          </a:solidFill>
          <a:ln w="12700">
            <a:solidFill>
              <a:srgbClr val="1A1A1A">
                <a:alpha val="20000"/>
              </a:srgbClr>
            </a:solidFill>
            <a:prstDash val="solid"/>
          </a:ln>
        </p:spPr>
      </p:sp>
      <p:sp>
        <p:nvSpPr>
          <p:cNvPr id="18" name="Text 16"/>
          <p:cNvSpPr txBox="1"/>
          <p:nvPr/>
        </p:nvSpPr>
        <p:spPr>
          <a:xfrm>
            <a:off x="2834640" y="2606040"/>
            <a:ext cx="3292901" cy="27432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10 clients, one instant</a:t>
            </a:r>
            <a:endParaRPr lang="en-US" sz="1000" dirty="0"/>
          </a:p>
        </p:txBody>
      </p:sp>
      <p:sp>
        <p:nvSpPr>
          <p:cNvPr id="19" name="Text 17"/>
          <p:cNvSpPr txBox="1"/>
          <p:nvPr/>
        </p:nvSpPr>
        <p:spPr>
          <a:xfrm>
            <a:off x="731520" y="4023360"/>
            <a:ext cx="2011680" cy="320040"/>
          </a:xfrm>
          <a:prstGeom prst="rect">
            <a:avLst/>
          </a:prstGeom>
          <a:noFill/>
          <a:ln/>
        </p:spPr>
        <p:txBody>
          <a:bodyPr wrap="square" lIns="0" tIns="0" rIns="0" bIns="0" rtlCol="0" anchor="ctr"/>
          <a:lstStyle/>
          <a:p>
            <a:pPr indent="0" marL="0">
              <a:buNone/>
            </a:pPr>
            <a:r>
              <a:rPr lang="en-US" sz="1150" dirty="0">
                <a:solidFill>
                  <a:srgbClr val="555555"/>
                </a:solidFill>
                <a:latin typeface="Arial" pitchFamily="34" charset="0"/>
                <a:ea typeface="Arial" pitchFamily="34" charset="-122"/>
                <a:cs typeface="Arial" pitchFamily="34" charset="-120"/>
              </a:rPr>
              <a:t>Backoff with full jitter</a:t>
            </a:r>
            <a:endParaRPr lang="en-US" sz="1150" dirty="0"/>
          </a:p>
        </p:txBody>
      </p:sp>
      <p:sp>
        <p:nvSpPr>
          <p:cNvPr id="20" name="Shape 18"/>
          <p:cNvSpPr/>
          <p:nvPr/>
        </p:nvSpPr>
        <p:spPr>
          <a:xfrm>
            <a:off x="2834640" y="4160520"/>
            <a:ext cx="3292901" cy="0"/>
          </a:xfrm>
          <a:prstGeom prst="line">
            <a:avLst/>
          </a:prstGeom>
          <a:noFill/>
          <a:ln w="12700">
            <a:solidFill>
              <a:srgbClr val="D0D0D0"/>
            </a:solidFill>
            <a:prstDash val="solid"/>
          </a:ln>
        </p:spPr>
      </p:sp>
      <p:sp>
        <p:nvSpPr>
          <p:cNvPr id="21" name="Shape 19"/>
          <p:cNvSpPr/>
          <p:nvPr/>
        </p:nvSpPr>
        <p:spPr>
          <a:xfrm>
            <a:off x="3180421" y="4078224"/>
            <a:ext cx="164592" cy="164592"/>
          </a:xfrm>
          <a:prstGeom prst="ellipse">
            <a:avLst/>
          </a:prstGeom>
          <a:solidFill>
            <a:srgbClr val="E8630A">
              <a:alpha val="95000"/>
            </a:srgbClr>
          </a:solidFill>
          <a:ln w="12700">
            <a:solidFill>
              <a:srgbClr val="E8630A">
                <a:alpha val="95000"/>
              </a:srgbClr>
            </a:solidFill>
            <a:prstDash val="solid"/>
          </a:ln>
        </p:spPr>
      </p:sp>
      <p:sp>
        <p:nvSpPr>
          <p:cNvPr id="22" name="Shape 20"/>
          <p:cNvSpPr/>
          <p:nvPr/>
        </p:nvSpPr>
        <p:spPr>
          <a:xfrm>
            <a:off x="3773143" y="4078224"/>
            <a:ext cx="164592" cy="164592"/>
          </a:xfrm>
          <a:prstGeom prst="ellipse">
            <a:avLst/>
          </a:prstGeom>
          <a:solidFill>
            <a:srgbClr val="E8630A">
              <a:alpha val="95000"/>
            </a:srgbClr>
          </a:solidFill>
          <a:ln w="12700">
            <a:solidFill>
              <a:srgbClr val="E8630A">
                <a:alpha val="95000"/>
              </a:srgbClr>
            </a:solidFill>
            <a:prstDash val="solid"/>
          </a:ln>
        </p:spPr>
      </p:sp>
      <p:sp>
        <p:nvSpPr>
          <p:cNvPr id="23" name="Shape 21"/>
          <p:cNvSpPr/>
          <p:nvPr/>
        </p:nvSpPr>
        <p:spPr>
          <a:xfrm>
            <a:off x="4135362" y="4078224"/>
            <a:ext cx="164592" cy="164592"/>
          </a:xfrm>
          <a:prstGeom prst="ellipse">
            <a:avLst/>
          </a:prstGeom>
          <a:solidFill>
            <a:srgbClr val="E8630A">
              <a:alpha val="95000"/>
            </a:srgbClr>
          </a:solidFill>
          <a:ln w="12700">
            <a:solidFill>
              <a:srgbClr val="E8630A">
                <a:alpha val="95000"/>
              </a:srgbClr>
            </a:solidFill>
            <a:prstDash val="solid"/>
          </a:ln>
        </p:spPr>
      </p:sp>
      <p:sp>
        <p:nvSpPr>
          <p:cNvPr id="24" name="Shape 22"/>
          <p:cNvSpPr/>
          <p:nvPr/>
        </p:nvSpPr>
        <p:spPr>
          <a:xfrm>
            <a:off x="4563439" y="4078224"/>
            <a:ext cx="164592" cy="164592"/>
          </a:xfrm>
          <a:prstGeom prst="ellipse">
            <a:avLst/>
          </a:prstGeom>
          <a:solidFill>
            <a:srgbClr val="E8630A">
              <a:alpha val="95000"/>
            </a:srgbClr>
          </a:solidFill>
          <a:ln w="12700">
            <a:solidFill>
              <a:srgbClr val="E8630A">
                <a:alpha val="95000"/>
              </a:srgbClr>
            </a:solidFill>
            <a:prstDash val="solid"/>
          </a:ln>
        </p:spPr>
      </p:sp>
      <p:sp>
        <p:nvSpPr>
          <p:cNvPr id="25" name="Shape 23"/>
          <p:cNvSpPr/>
          <p:nvPr/>
        </p:nvSpPr>
        <p:spPr>
          <a:xfrm>
            <a:off x="4728084" y="4078224"/>
            <a:ext cx="164592" cy="164592"/>
          </a:xfrm>
          <a:prstGeom prst="ellipse">
            <a:avLst/>
          </a:prstGeom>
          <a:solidFill>
            <a:srgbClr val="E8630A">
              <a:alpha val="95000"/>
            </a:srgbClr>
          </a:solidFill>
          <a:ln w="12700">
            <a:solidFill>
              <a:srgbClr val="E8630A">
                <a:alpha val="95000"/>
              </a:srgbClr>
            </a:solidFill>
            <a:prstDash val="solid"/>
          </a:ln>
        </p:spPr>
      </p:sp>
      <p:sp>
        <p:nvSpPr>
          <p:cNvPr id="26" name="Shape 24"/>
          <p:cNvSpPr/>
          <p:nvPr/>
        </p:nvSpPr>
        <p:spPr>
          <a:xfrm>
            <a:off x="5090303" y="4078224"/>
            <a:ext cx="164592" cy="164592"/>
          </a:xfrm>
          <a:prstGeom prst="ellipse">
            <a:avLst/>
          </a:prstGeom>
          <a:solidFill>
            <a:srgbClr val="E8630A">
              <a:alpha val="95000"/>
            </a:srgbClr>
          </a:solidFill>
          <a:ln w="12700">
            <a:solidFill>
              <a:srgbClr val="E8630A">
                <a:alpha val="95000"/>
              </a:srgbClr>
            </a:solidFill>
            <a:prstDash val="solid"/>
          </a:ln>
        </p:spPr>
      </p:sp>
      <p:sp>
        <p:nvSpPr>
          <p:cNvPr id="27" name="Shape 25"/>
          <p:cNvSpPr/>
          <p:nvPr/>
        </p:nvSpPr>
        <p:spPr>
          <a:xfrm>
            <a:off x="5320807" y="4078224"/>
            <a:ext cx="164592" cy="164592"/>
          </a:xfrm>
          <a:prstGeom prst="ellipse">
            <a:avLst/>
          </a:prstGeom>
          <a:solidFill>
            <a:srgbClr val="E8630A">
              <a:alpha val="95000"/>
            </a:srgbClr>
          </a:solidFill>
          <a:ln w="12700">
            <a:solidFill>
              <a:srgbClr val="E8630A">
                <a:alpha val="95000"/>
              </a:srgbClr>
            </a:solidFill>
            <a:prstDash val="solid"/>
          </a:ln>
        </p:spPr>
      </p:sp>
      <p:sp>
        <p:nvSpPr>
          <p:cNvPr id="28" name="Shape 26"/>
          <p:cNvSpPr/>
          <p:nvPr/>
        </p:nvSpPr>
        <p:spPr>
          <a:xfrm>
            <a:off x="5617168" y="4078224"/>
            <a:ext cx="164592" cy="164592"/>
          </a:xfrm>
          <a:prstGeom prst="ellipse">
            <a:avLst/>
          </a:prstGeom>
          <a:solidFill>
            <a:srgbClr val="E8630A">
              <a:alpha val="95000"/>
            </a:srgbClr>
          </a:solidFill>
          <a:ln w="12700">
            <a:solidFill>
              <a:srgbClr val="E8630A">
                <a:alpha val="95000"/>
              </a:srgbClr>
            </a:solidFill>
            <a:prstDash val="solid"/>
          </a:ln>
        </p:spPr>
      </p:sp>
      <p:sp>
        <p:nvSpPr>
          <p:cNvPr id="29" name="Shape 27"/>
          <p:cNvSpPr/>
          <p:nvPr/>
        </p:nvSpPr>
        <p:spPr>
          <a:xfrm>
            <a:off x="5814742" y="4078224"/>
            <a:ext cx="164592" cy="164592"/>
          </a:xfrm>
          <a:prstGeom prst="ellipse">
            <a:avLst/>
          </a:prstGeom>
          <a:solidFill>
            <a:srgbClr val="E8630A">
              <a:alpha val="95000"/>
            </a:srgbClr>
          </a:solidFill>
          <a:ln w="12700">
            <a:solidFill>
              <a:srgbClr val="E8630A">
                <a:alpha val="95000"/>
              </a:srgbClr>
            </a:solidFill>
            <a:prstDash val="solid"/>
          </a:ln>
        </p:spPr>
      </p:sp>
      <p:sp>
        <p:nvSpPr>
          <p:cNvPr id="30" name="Shape 28"/>
          <p:cNvSpPr/>
          <p:nvPr/>
        </p:nvSpPr>
        <p:spPr>
          <a:xfrm>
            <a:off x="5979387" y="4078224"/>
            <a:ext cx="164592" cy="164592"/>
          </a:xfrm>
          <a:prstGeom prst="ellipse">
            <a:avLst/>
          </a:prstGeom>
          <a:solidFill>
            <a:srgbClr val="E8630A">
              <a:alpha val="95000"/>
            </a:srgbClr>
          </a:solidFill>
          <a:ln w="12700">
            <a:solidFill>
              <a:srgbClr val="E8630A">
                <a:alpha val="95000"/>
              </a:srgbClr>
            </a:solidFill>
            <a:prstDash val="solid"/>
          </a:ln>
        </p:spPr>
      </p:sp>
      <p:sp>
        <p:nvSpPr>
          <p:cNvPr id="31" name="Shape 29"/>
          <p:cNvSpPr/>
          <p:nvPr/>
        </p:nvSpPr>
        <p:spPr>
          <a:xfrm>
            <a:off x="2834640" y="4983480"/>
            <a:ext cx="3292901" cy="0"/>
          </a:xfrm>
          <a:prstGeom prst="line">
            <a:avLst/>
          </a:prstGeom>
          <a:noFill/>
          <a:ln w="12700">
            <a:solidFill>
              <a:srgbClr val="1A1A1A"/>
            </a:solidFill>
            <a:prstDash val="solid"/>
          </a:ln>
        </p:spPr>
      </p:sp>
      <p:sp>
        <p:nvSpPr>
          <p:cNvPr id="32" name="Text 30"/>
          <p:cNvSpPr txBox="1"/>
          <p:nvPr/>
        </p:nvSpPr>
        <p:spPr>
          <a:xfrm>
            <a:off x="2834640" y="5029200"/>
            <a:ext cx="914400" cy="274320"/>
          </a:xfrm>
          <a:prstGeom prst="rect">
            <a:avLst/>
          </a:prstGeom>
          <a:noFill/>
          <a:ln/>
        </p:spPr>
        <p:txBody>
          <a:bodyPr wrap="square" lIns="0" tIns="0" rIns="0" bIns="0" rtlCol="0" anchor="t"/>
          <a:lstStyle/>
          <a:p>
            <a:pPr indent="0" marL="0">
              <a:buNone/>
            </a:pPr>
            <a:r>
              <a:rPr lang="en-US" sz="1000" dirty="0">
                <a:solidFill>
                  <a:srgbClr val="8A8A8A"/>
                </a:solidFill>
                <a:latin typeface="Arial" pitchFamily="34" charset="0"/>
                <a:ea typeface="Arial" pitchFamily="34" charset="-122"/>
                <a:cs typeface="Arial" pitchFamily="34" charset="-120"/>
              </a:rPr>
              <a:t>0</a:t>
            </a:r>
            <a:endParaRPr lang="en-US" sz="1000" dirty="0"/>
          </a:p>
        </p:txBody>
      </p:sp>
      <p:sp>
        <p:nvSpPr>
          <p:cNvPr id="33" name="Text 31"/>
          <p:cNvSpPr txBox="1"/>
          <p:nvPr/>
        </p:nvSpPr>
        <p:spPr>
          <a:xfrm>
            <a:off x="4298741" y="5029200"/>
            <a:ext cx="1828800" cy="27432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backoff ceiling</a:t>
            </a:r>
            <a:endParaRPr lang="en-US" sz="1000" dirty="0"/>
          </a:p>
        </p:txBody>
      </p:sp>
      <p:sp>
        <p:nvSpPr>
          <p:cNvPr id="34" name="Text 32"/>
          <p:cNvSpPr txBox="1"/>
          <p:nvPr/>
        </p:nvSpPr>
        <p:spPr>
          <a:xfrm>
            <a:off x="2834640" y="5303520"/>
            <a:ext cx="3292901" cy="274320"/>
          </a:xfrm>
          <a:prstGeom prst="rect">
            <a:avLst/>
          </a:prstGeom>
          <a:noFill/>
          <a:ln/>
        </p:spPr>
        <p:txBody>
          <a:bodyPr wrap="square" lIns="0" tIns="0" rIns="0" bIns="0" rtlCol="0" anchor="t"/>
          <a:lstStyle/>
          <a:p>
            <a:pPr indent="0" marL="0">
              <a:buNone/>
            </a:pPr>
            <a:r>
              <a:rPr lang="en-US" sz="1000" dirty="0">
                <a:solidFill>
                  <a:srgbClr val="8A8A8A"/>
                </a:solidFill>
                <a:latin typeface="Arial" pitchFamily="34" charset="0"/>
                <a:ea typeface="Arial" pitchFamily="34" charset="-122"/>
                <a:cs typeface="Arial" pitchFamily="34" charset="-120"/>
              </a:rPr>
              <a:t>time until retry, as a share of the backoff ceiling</a:t>
            </a:r>
            <a:endParaRPr lang="en-US" sz="1000" dirty="0"/>
          </a:p>
        </p:txBody>
      </p:sp>
      <p:sp>
        <p:nvSpPr>
          <p:cNvPr id="35" name="Text 33"/>
          <p:cNvSpPr txBox="1"/>
          <p:nvPr/>
        </p:nvSpPr>
        <p:spPr>
          <a:xfrm>
            <a:off x="6676181" y="2331720"/>
            <a:ext cx="4783994" cy="3429000"/>
          </a:xfrm>
          <a:prstGeom prst="rect">
            <a:avLst/>
          </a:prstGeom>
          <a:noFill/>
          <a:ln/>
        </p:spPr>
        <p:txBody>
          <a:bodyPr wrap="square" lIns="0" tIns="0" rIns="0" bIns="0" rtlCol="0" anchor="t"/>
          <a:lstStyle/>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Backoff without jitter reschedules a thundering herd. Every client waits the same computed interval and retries at the same instant: the retry wave has the same shape as the spike that caused it.</a:t>
            </a:r>
            <a:endParaRPr lang="en-US" sz="1200" dirty="0"/>
          </a:p>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A product drop is a synchronised spike by design. Any downstream call that rate-limits under it produces a wall of 429s, and an unjittered client turns one spike into several.</a:t>
            </a:r>
            <a:endParaRPr lang="en-US" sz="1200" dirty="0"/>
          </a:p>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Never retry a 4xx that is not 429. A 401 is a configuration error; retrying it makes the same mistake more often.</a:t>
            </a:r>
            <a:endParaRPr lang="en-US" sz="1200" dirty="0"/>
          </a:p>
        </p:txBody>
      </p:sp>
      <p:sp>
        <p:nvSpPr>
          <p:cNvPr id="36" name="Text 34"/>
          <p:cNvSpPr txBox="1"/>
          <p:nvPr/>
        </p:nvSpPr>
        <p:spPr>
          <a:xfrm>
            <a:off x="10088575" y="6355080"/>
            <a:ext cx="1371600" cy="27432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10 / 19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731520" y="411480"/>
            <a:ext cx="10728655" cy="274320"/>
          </a:xfrm>
          <a:prstGeom prst="rect">
            <a:avLst/>
          </a:prstGeom>
          <a:noFill/>
          <a:ln/>
        </p:spPr>
        <p:txBody>
          <a:bodyPr wrap="square" lIns="0" tIns="0" rIns="0" bIns="0" rtlCol="0" anchor="t"/>
          <a:lstStyle/>
          <a:p>
            <a:pPr indent="0" marL="0">
              <a:buNone/>
            </a:pPr>
            <a:r>
              <a:rPr lang="en-US" sz="1100" spc="200" kern="0" dirty="0">
                <a:solidFill>
                  <a:srgbClr val="8A8A8A"/>
                </a:solidFill>
                <a:latin typeface="Arial" pitchFamily="34" charset="0"/>
                <a:ea typeface="Arial" pitchFamily="34" charset="-122"/>
                <a:cs typeface="Arial" pitchFamily="34" charset="-120"/>
              </a:rPr>
              <a:t>3 · THE API SIMULATION</a:t>
            </a:r>
            <a:endParaRPr lang="en-US" sz="1100" dirty="0"/>
          </a:p>
        </p:txBody>
      </p:sp>
      <p:sp>
        <p:nvSpPr>
          <p:cNvPr id="3" name="Text 1"/>
          <p:cNvSpPr txBox="1"/>
          <p:nvPr/>
        </p:nvSpPr>
        <p:spPr>
          <a:xfrm>
            <a:off x="731520" y="731520"/>
            <a:ext cx="10728655" cy="731520"/>
          </a:xfrm>
          <a:prstGeom prst="rect">
            <a:avLst/>
          </a:prstGeom>
          <a:noFill/>
          <a:ln/>
        </p:spPr>
        <p:txBody>
          <a:bodyPr wrap="square" lIns="0" tIns="0" rIns="0" bIns="0" rtlCol="0" anchor="ctr"/>
          <a:lstStyle/>
          <a:p>
            <a:pPr indent="0" marL="0">
              <a:buNone/>
            </a:pPr>
            <a:r>
              <a:rPr lang="en-US" sz="2500" b="1" dirty="0">
                <a:solidFill>
                  <a:srgbClr val="1A1A1A"/>
                </a:solidFill>
                <a:latin typeface="Arial" pitchFamily="34" charset="0"/>
                <a:ea typeface="Arial" pitchFamily="34" charset="-122"/>
                <a:cs typeface="Arial" pitchFamily="34" charset="-120"/>
              </a:rPr>
              <a:t>Optimistic mutation: apply, call, reconcile or roll back</a:t>
            </a:r>
            <a:endParaRPr lang="en-US" sz="2500" dirty="0"/>
          </a:p>
        </p:txBody>
      </p:sp>
      <p:sp>
        <p:nvSpPr>
          <p:cNvPr id="4" name="Text 2"/>
          <p:cNvSpPr txBox="1"/>
          <p:nvPr/>
        </p:nvSpPr>
        <p:spPr>
          <a:xfrm>
            <a:off x="731520" y="1554480"/>
            <a:ext cx="9357055" cy="685800"/>
          </a:xfrm>
          <a:prstGeom prst="rect">
            <a:avLst/>
          </a:prstGeom>
          <a:noFill/>
          <a:ln/>
        </p:spPr>
        <p:txBody>
          <a:bodyPr wrap="square" lIns="0" tIns="0" rIns="0" bIns="0" rtlCol="0" anchor="t"/>
          <a:lstStyle/>
          <a:p>
            <a:pPr indent="0" marL="0">
              <a:buNone/>
            </a:pPr>
            <a:r>
              <a:rPr lang="en-US" sz="1400" dirty="0">
                <a:solidFill>
                  <a:srgbClr val="555555"/>
                </a:solidFill>
                <a:latin typeface="Arial" pitchFamily="34" charset="0"/>
                <a:ea typeface="Arial" pitchFamily="34" charset="-122"/>
                <a:cs typeface="Arial" pitchFamily="34" charset="-120"/>
              </a:rPr>
              <a:t>In the reducer, not the component. The whole lifecycle is one exhaustively typed pure function, tested with no React involved.</a:t>
            </a:r>
            <a:endParaRPr lang="en-US" sz="1400" dirty="0"/>
          </a:p>
        </p:txBody>
      </p:sp>
      <p:sp>
        <p:nvSpPr>
          <p:cNvPr id="5" name="Shape 3"/>
          <p:cNvSpPr/>
          <p:nvPr/>
        </p:nvSpPr>
        <p:spPr>
          <a:xfrm>
            <a:off x="731520" y="2331720"/>
            <a:ext cx="5250028" cy="1828800"/>
          </a:xfrm>
          <a:prstGeom prst="roundRect">
            <a:avLst>
              <a:gd name="adj" fmla="val 5000"/>
            </a:avLst>
          </a:prstGeom>
          <a:solidFill>
            <a:srgbClr val="F5F5F5"/>
          </a:solidFill>
          <a:ln w="12700">
            <a:solidFill>
              <a:srgbClr val="F5F5F5"/>
            </a:solidFill>
            <a:prstDash val="solid"/>
          </a:ln>
        </p:spPr>
      </p:sp>
      <p:sp>
        <p:nvSpPr>
          <p:cNvPr id="6" name="Text 4"/>
          <p:cNvSpPr txBox="1"/>
          <p:nvPr/>
        </p:nvSpPr>
        <p:spPr>
          <a:xfrm>
            <a:off x="960120" y="2514600"/>
            <a:ext cx="4792828" cy="36576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confirmed · syncing · failed</a:t>
            </a:r>
            <a:endParaRPr lang="en-US" sz="1500" dirty="0"/>
          </a:p>
        </p:txBody>
      </p:sp>
      <p:sp>
        <p:nvSpPr>
          <p:cNvPr id="7" name="Text 5"/>
          <p:cNvSpPr txBox="1"/>
          <p:nvPr/>
        </p:nvSpPr>
        <p:spPr>
          <a:xfrm>
            <a:off x="960120" y="2898648"/>
            <a:ext cx="4792828" cy="109728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Per-task sync state, runtime only. Never persisted: localStorage is the system of record, so a hydrated task is always confirmed.</a:t>
            </a:r>
            <a:endParaRPr lang="en-US" sz="1250" dirty="0"/>
          </a:p>
        </p:txBody>
      </p:sp>
      <p:sp>
        <p:nvSpPr>
          <p:cNvPr id="8" name="Shape 6"/>
          <p:cNvSpPr/>
          <p:nvPr/>
        </p:nvSpPr>
        <p:spPr>
          <a:xfrm>
            <a:off x="6210148" y="2331720"/>
            <a:ext cx="5250028" cy="1828800"/>
          </a:xfrm>
          <a:prstGeom prst="roundRect">
            <a:avLst>
              <a:gd name="adj" fmla="val 5000"/>
            </a:avLst>
          </a:prstGeom>
          <a:solidFill>
            <a:srgbClr val="F5F5F5"/>
          </a:solidFill>
          <a:ln w="12700">
            <a:solidFill>
              <a:srgbClr val="F5F5F5"/>
            </a:solidFill>
            <a:prstDash val="solid"/>
          </a:ln>
        </p:spPr>
      </p:sp>
      <p:sp>
        <p:nvSpPr>
          <p:cNvPr id="9" name="Text 7"/>
          <p:cNvSpPr txBox="1"/>
          <p:nvPr/>
        </p:nvSpPr>
        <p:spPr>
          <a:xfrm>
            <a:off x="6438748" y="2514600"/>
            <a:ext cx="4792828" cy="36576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Reconcile by identity</a:t>
            </a:r>
            <a:endParaRPr lang="en-US" sz="1500" dirty="0"/>
          </a:p>
        </p:txBody>
      </p:sp>
      <p:sp>
        <p:nvSpPr>
          <p:cNvPr id="10" name="Text 8"/>
          <p:cNvSpPr txBox="1"/>
          <p:nvPr/>
        </p:nvSpPr>
        <p:spPr>
          <a:xfrm>
            <a:off x="6438748" y="2898648"/>
            <a:ext cx="4792828" cy="109728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The client assigns id and createdAt; the server echoes both and assigns nothing. The row keeps its key and its sort position: no remount, no reorder (AC-API-8).</a:t>
            </a:r>
            <a:endParaRPr lang="en-US" sz="1250" dirty="0"/>
          </a:p>
        </p:txBody>
      </p:sp>
      <p:sp>
        <p:nvSpPr>
          <p:cNvPr id="11" name="Shape 9"/>
          <p:cNvSpPr/>
          <p:nvPr/>
        </p:nvSpPr>
        <p:spPr>
          <a:xfrm>
            <a:off x="731520" y="4389120"/>
            <a:ext cx="5250028" cy="1828800"/>
          </a:xfrm>
          <a:prstGeom prst="roundRect">
            <a:avLst>
              <a:gd name="adj" fmla="val 5000"/>
            </a:avLst>
          </a:prstGeom>
          <a:solidFill>
            <a:srgbClr val="F5F5F5"/>
          </a:solidFill>
          <a:ln w="12700">
            <a:solidFill>
              <a:srgbClr val="F5F5F5"/>
            </a:solidFill>
            <a:prstDash val="solid"/>
          </a:ln>
        </p:spPr>
      </p:sp>
      <p:sp>
        <p:nvSpPr>
          <p:cNvPr id="12" name="Text 10"/>
          <p:cNvSpPr txBox="1"/>
          <p:nvPr/>
        </p:nvSpPr>
        <p:spPr>
          <a:xfrm>
            <a:off x="960120" y="4572000"/>
            <a:ext cx="4792828" cy="36576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Rollback restores position for free</a:t>
            </a:r>
            <a:endParaRPr lang="en-US" sz="1500" dirty="0"/>
          </a:p>
        </p:txBody>
      </p:sp>
      <p:sp>
        <p:nvSpPr>
          <p:cNvPr id="13" name="Text 11"/>
          <p:cNvSpPr txBox="1"/>
          <p:nvPr/>
        </p:nvSpPr>
        <p:spPr>
          <a:xfrm>
            <a:off x="960120" y="4956048"/>
            <a:ext cx="4792828" cy="109728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List order is derived at render (due date, then creation time), so restoring the deleted record restores its place. There is no index to get wrong (AC-API-9).</a:t>
            </a:r>
            <a:endParaRPr lang="en-US" sz="1250" dirty="0"/>
          </a:p>
        </p:txBody>
      </p:sp>
      <p:sp>
        <p:nvSpPr>
          <p:cNvPr id="14" name="Shape 12"/>
          <p:cNvSpPr/>
          <p:nvPr/>
        </p:nvSpPr>
        <p:spPr>
          <a:xfrm>
            <a:off x="6210148" y="4389120"/>
            <a:ext cx="5250028" cy="1828800"/>
          </a:xfrm>
          <a:prstGeom prst="roundRect">
            <a:avLst>
              <a:gd name="adj" fmla="val 5000"/>
            </a:avLst>
          </a:prstGeom>
          <a:solidFill>
            <a:srgbClr val="F5F5F5"/>
          </a:solidFill>
          <a:ln w="12700">
            <a:solidFill>
              <a:srgbClr val="F5F5F5"/>
            </a:solidFill>
            <a:prstDash val="solid"/>
          </a:ln>
        </p:spPr>
      </p:sp>
      <p:sp>
        <p:nvSpPr>
          <p:cNvPr id="15" name="Text 13"/>
          <p:cNvSpPr txBox="1"/>
          <p:nvPr/>
        </p:nvSpPr>
        <p:spPr>
          <a:xfrm>
            <a:off x="6438748" y="4572000"/>
            <a:ext cx="4792828" cy="36576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Cart analogue</a:t>
            </a:r>
            <a:endParaRPr lang="en-US" sz="1500" dirty="0"/>
          </a:p>
        </p:txBody>
      </p:sp>
      <p:sp>
        <p:nvSpPr>
          <p:cNvPr id="16" name="Text 14"/>
          <p:cNvSpPr txBox="1"/>
          <p:nvPr/>
        </p:nvSpPr>
        <p:spPr>
          <a:xfrm>
            <a:off x="6438748" y="4956048"/>
            <a:ext cx="4792828" cy="109728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Add to bag feels instant; the server reconciles or the line reverts with a reason. A rate-limit failure reads differently from a generic one (AC-API-12).</a:t>
            </a:r>
            <a:endParaRPr lang="en-US" sz="1250" dirty="0"/>
          </a:p>
        </p:txBody>
      </p:sp>
      <p:sp>
        <p:nvSpPr>
          <p:cNvPr id="17" name="Text 15"/>
          <p:cNvSpPr txBox="1"/>
          <p:nvPr/>
        </p:nvSpPr>
        <p:spPr>
          <a:xfrm>
            <a:off x="10088575" y="6355080"/>
            <a:ext cx="1371600" cy="27432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11 / 19</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731520" y="411480"/>
            <a:ext cx="10728655" cy="274320"/>
          </a:xfrm>
          <a:prstGeom prst="rect">
            <a:avLst/>
          </a:prstGeom>
          <a:noFill/>
          <a:ln/>
        </p:spPr>
        <p:txBody>
          <a:bodyPr wrap="square" lIns="0" tIns="0" rIns="0" bIns="0" rtlCol="0" anchor="t"/>
          <a:lstStyle/>
          <a:p>
            <a:pPr indent="0" marL="0">
              <a:buNone/>
            </a:pPr>
            <a:r>
              <a:rPr lang="en-US" sz="1100" spc="200" kern="0" dirty="0">
                <a:solidFill>
                  <a:srgbClr val="8A8A8A"/>
                </a:solidFill>
                <a:latin typeface="Arial" pitchFamily="34" charset="0"/>
                <a:ea typeface="Arial" pitchFamily="34" charset="-122"/>
                <a:cs typeface="Arial" pitchFamily="34" charset="-120"/>
              </a:rPr>
              <a:t>4 · BUILD VS BUY</a:t>
            </a:r>
            <a:endParaRPr lang="en-US" sz="1100" dirty="0"/>
          </a:p>
        </p:txBody>
      </p:sp>
      <p:sp>
        <p:nvSpPr>
          <p:cNvPr id="3" name="Text 1"/>
          <p:cNvSpPr txBox="1"/>
          <p:nvPr/>
        </p:nvSpPr>
        <p:spPr>
          <a:xfrm>
            <a:off x="731520" y="731520"/>
            <a:ext cx="10728655" cy="73152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Which line to be on</a:t>
            </a:r>
            <a:endParaRPr lang="en-US" sz="3000" dirty="0"/>
          </a:p>
        </p:txBody>
      </p:sp>
      <p:sp>
        <p:nvSpPr>
          <p:cNvPr id="4" name="Text 2"/>
          <p:cNvSpPr txBox="1"/>
          <p:nvPr/>
        </p:nvSpPr>
        <p:spPr>
          <a:xfrm>
            <a:off x="731520" y="1554480"/>
            <a:ext cx="9357055" cy="685800"/>
          </a:xfrm>
          <a:prstGeom prst="rect">
            <a:avLst/>
          </a:prstGeom>
          <a:noFill/>
          <a:ln/>
        </p:spPr>
        <p:txBody>
          <a:bodyPr wrap="square" lIns="0" tIns="0" rIns="0" bIns="0" rtlCol="0" anchor="t"/>
          <a:lstStyle/>
          <a:p>
            <a:pPr indent="0" marL="0">
              <a:buNone/>
            </a:pPr>
            <a:r>
              <a:rPr lang="en-US" sz="1400" dirty="0">
                <a:solidFill>
                  <a:srgbClr val="555555"/>
                </a:solidFill>
                <a:latin typeface="Arial" pitchFamily="34" charset="0"/>
                <a:ea typeface="Arial" pitchFamily="34" charset="-122"/>
                <a:cs typeface="Arial" pitchFamily="34" charset="-120"/>
              </a:rPr>
              <a:t>Every ADR carries a build-vs-buy section, because the recurring judgment on this project is which line to be on, not how much can be hand-rolled.</a:t>
            </a:r>
            <a:endParaRPr lang="en-US" sz="1400" dirty="0"/>
          </a:p>
        </p:txBody>
      </p:sp>
      <p:sp>
        <p:nvSpPr>
          <p:cNvPr id="5" name="Text 3"/>
          <p:cNvSpPr txBox="1"/>
          <p:nvPr/>
        </p:nvSpPr>
        <p:spPr>
          <a:xfrm>
            <a:off x="731520" y="2331720"/>
            <a:ext cx="3332378" cy="365760"/>
          </a:xfrm>
          <a:prstGeom prst="rect">
            <a:avLst/>
          </a:prstGeom>
          <a:noFill/>
          <a:ln/>
        </p:spPr>
        <p:txBody>
          <a:bodyPr wrap="square" lIns="0" tIns="0" rIns="0" bIns="0" rtlCol="0" anchor="t"/>
          <a:lstStyle/>
          <a:p>
            <a:pPr indent="0" marL="0">
              <a:buNone/>
            </a:pPr>
            <a:r>
              <a:rPr lang="en-US" sz="1600" b="1" dirty="0">
                <a:solidFill>
                  <a:srgbClr val="1A1A1A"/>
                </a:solidFill>
                <a:latin typeface="Arial" pitchFamily="34" charset="0"/>
                <a:ea typeface="Arial" pitchFamily="34" charset="-122"/>
                <a:cs typeface="Arial" pitchFamily="34" charset="-120"/>
              </a:rPr>
              <a:t>Bought</a:t>
            </a:r>
            <a:endParaRPr lang="en-US" sz="1600" dirty="0"/>
          </a:p>
        </p:txBody>
      </p:sp>
      <p:sp>
        <p:nvSpPr>
          <p:cNvPr id="6" name="Shape 4"/>
          <p:cNvSpPr/>
          <p:nvPr/>
        </p:nvSpPr>
        <p:spPr>
          <a:xfrm>
            <a:off x="731520" y="2743200"/>
            <a:ext cx="3332378" cy="0"/>
          </a:xfrm>
          <a:prstGeom prst="line">
            <a:avLst/>
          </a:prstGeom>
          <a:noFill/>
          <a:ln w="19050">
            <a:solidFill>
              <a:srgbClr val="1A1A1A"/>
            </a:solidFill>
            <a:prstDash val="solid"/>
          </a:ln>
        </p:spPr>
      </p:sp>
      <p:sp>
        <p:nvSpPr>
          <p:cNvPr id="7" name="Text 5"/>
          <p:cNvSpPr txBox="1"/>
          <p:nvPr/>
        </p:nvSpPr>
        <p:spPr>
          <a:xfrm>
            <a:off x="731520" y="2880360"/>
            <a:ext cx="3332378" cy="3337560"/>
          </a:xfrm>
          <a:prstGeom prst="rect">
            <a:avLst/>
          </a:prstGeom>
          <a:noFill/>
          <a:ln/>
        </p:spPr>
        <p:txBody>
          <a:bodyPr wrap="square" lIns="0" tIns="0" rIns="0" bIns="0" rtlCol="0" anchor="t"/>
          <a:lstStyle/>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Next.js Route Handlers as the server boundary</a:t>
            </a:r>
            <a:endParaRPr lang="en-US" sz="1200" dirty="0"/>
          </a:p>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Radix primitives via shadcn, source owned</a:t>
            </a:r>
            <a:endParaRPr lang="en-US" sz="1200" dirty="0"/>
          </a:p>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Zod for request and persistence schemas</a:t>
            </a:r>
            <a:endParaRPr lang="en-US" sz="1200" dirty="0"/>
          </a:p>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MSW at the network layer, jest-axe for the mechanical half of a11y</a:t>
            </a:r>
            <a:endParaRPr lang="en-US" sz="1200" dirty="0"/>
          </a:p>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The platform's encrypted env for the key</a:t>
            </a:r>
            <a:endParaRPr lang="en-US" sz="1200" dirty="0"/>
          </a:p>
        </p:txBody>
      </p:sp>
      <p:sp>
        <p:nvSpPr>
          <p:cNvPr id="8" name="Text 6"/>
          <p:cNvSpPr txBox="1"/>
          <p:nvPr/>
        </p:nvSpPr>
        <p:spPr>
          <a:xfrm>
            <a:off x="4429658" y="2331720"/>
            <a:ext cx="3332378" cy="365760"/>
          </a:xfrm>
          <a:prstGeom prst="rect">
            <a:avLst/>
          </a:prstGeom>
          <a:noFill/>
          <a:ln/>
        </p:spPr>
        <p:txBody>
          <a:bodyPr wrap="square" lIns="0" tIns="0" rIns="0" bIns="0" rtlCol="0" anchor="t"/>
          <a:lstStyle/>
          <a:p>
            <a:pPr indent="0" marL="0">
              <a:buNone/>
            </a:pPr>
            <a:r>
              <a:rPr lang="en-US" sz="1600" b="1" dirty="0">
                <a:solidFill>
                  <a:srgbClr val="1A1A1A"/>
                </a:solidFill>
                <a:latin typeface="Arial" pitchFamily="34" charset="0"/>
                <a:ea typeface="Arial" pitchFamily="34" charset="-122"/>
                <a:cs typeface="Arial" pitchFamily="34" charset="-120"/>
              </a:rPr>
              <a:t>Built</a:t>
            </a:r>
            <a:endParaRPr lang="en-US" sz="1600" dirty="0"/>
          </a:p>
        </p:txBody>
      </p:sp>
      <p:sp>
        <p:nvSpPr>
          <p:cNvPr id="9" name="Shape 7"/>
          <p:cNvSpPr/>
          <p:nvPr/>
        </p:nvSpPr>
        <p:spPr>
          <a:xfrm>
            <a:off x="4429658" y="2743200"/>
            <a:ext cx="3332378" cy="0"/>
          </a:xfrm>
          <a:prstGeom prst="line">
            <a:avLst/>
          </a:prstGeom>
          <a:noFill/>
          <a:ln w="19050">
            <a:solidFill>
              <a:srgbClr val="1A1A1A"/>
            </a:solidFill>
            <a:prstDash val="solid"/>
          </a:ln>
        </p:spPr>
      </p:sp>
      <p:sp>
        <p:nvSpPr>
          <p:cNvPr id="10" name="Text 8"/>
          <p:cNvSpPr txBox="1"/>
          <p:nvPr/>
        </p:nvSpPr>
        <p:spPr>
          <a:xfrm>
            <a:off x="4429658" y="2880360"/>
            <a:ext cx="3332378" cy="3337560"/>
          </a:xfrm>
          <a:prstGeom prst="rect">
            <a:avLst/>
          </a:prstGeom>
          <a:noFill/>
          <a:ln/>
        </p:spPr>
        <p:txBody>
          <a:bodyPr wrap="square" lIns="0" tIns="0" rIns="0" bIns="0" rtlCol="0" anchor="t"/>
          <a:lstStyle/>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Context + reducer with a versioned, validated persistence adapter (~120 lines)</a:t>
            </a:r>
            <a:endParaRPr lang="en-US" sz="1200" dirty="0"/>
          </a:p>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The retry loop: backoff, full jitter, bounded budget (~100 lines)</a:t>
            </a:r>
            <a:endParaRPr lang="en-US" sz="1200" dirty="0"/>
          </a:p>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A twenty-line render helper wrapping the providers</a:t>
            </a:r>
            <a:endParaRPr lang="en-US" sz="1200" dirty="0"/>
          </a:p>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A bundle test that proves an absence</a:t>
            </a:r>
            <a:endParaRPr lang="en-US" sz="1200" dirty="0"/>
          </a:p>
        </p:txBody>
      </p:sp>
      <p:sp>
        <p:nvSpPr>
          <p:cNvPr id="11" name="Text 9"/>
          <p:cNvSpPr txBox="1"/>
          <p:nvPr/>
        </p:nvSpPr>
        <p:spPr>
          <a:xfrm>
            <a:off x="8127797" y="2331720"/>
            <a:ext cx="3332378" cy="365760"/>
          </a:xfrm>
          <a:prstGeom prst="rect">
            <a:avLst/>
          </a:prstGeom>
          <a:noFill/>
          <a:ln/>
        </p:spPr>
        <p:txBody>
          <a:bodyPr wrap="square" lIns="0" tIns="0" rIns="0" bIns="0" rtlCol="0" anchor="t"/>
          <a:lstStyle/>
          <a:p>
            <a:pPr indent="0" marL="0">
              <a:buNone/>
            </a:pPr>
            <a:r>
              <a:rPr lang="en-US" sz="1600" b="1" dirty="0">
                <a:solidFill>
                  <a:srgbClr val="1A1A1A"/>
                </a:solidFill>
                <a:latin typeface="Arial" pitchFamily="34" charset="0"/>
                <a:ea typeface="Arial" pitchFamily="34" charset="-122"/>
                <a:cs typeface="Arial" pitchFamily="34" charset="-120"/>
              </a:rPr>
              <a:t>Declined</a:t>
            </a:r>
            <a:endParaRPr lang="en-US" sz="1600" dirty="0"/>
          </a:p>
        </p:txBody>
      </p:sp>
      <p:sp>
        <p:nvSpPr>
          <p:cNvPr id="12" name="Shape 10"/>
          <p:cNvSpPr/>
          <p:nvPr/>
        </p:nvSpPr>
        <p:spPr>
          <a:xfrm>
            <a:off x="8127797" y="2743200"/>
            <a:ext cx="3332378" cy="0"/>
          </a:xfrm>
          <a:prstGeom prst="line">
            <a:avLst/>
          </a:prstGeom>
          <a:noFill/>
          <a:ln w="19050">
            <a:solidFill>
              <a:srgbClr val="1A1A1A"/>
            </a:solidFill>
            <a:prstDash val="solid"/>
          </a:ln>
        </p:spPr>
      </p:sp>
      <p:sp>
        <p:nvSpPr>
          <p:cNvPr id="13" name="Text 11"/>
          <p:cNvSpPr txBox="1"/>
          <p:nvPr/>
        </p:nvSpPr>
        <p:spPr>
          <a:xfrm>
            <a:off x="8127797" y="2880360"/>
            <a:ext cx="3332378" cy="3337560"/>
          </a:xfrm>
          <a:prstGeom prst="rect">
            <a:avLst/>
          </a:prstGeom>
          <a:noFill/>
          <a:ln/>
        </p:spPr>
        <p:txBody>
          <a:bodyPr wrap="square" lIns="0" tIns="0" rIns="0" bIns="0" rtlCol="0" anchor="t"/>
          <a:lstStyle/>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TanStack Query</a:t>
            </a:r>
            <a:endParaRPr lang="en-US" sz="1200" dirty="0"/>
          </a:p>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Zustand (and every full-fledged store)</a:t>
            </a:r>
            <a:endParaRPr lang="en-US" sz="1200" dirty="0"/>
          </a:p>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Turborepo</a:t>
            </a:r>
            <a:endParaRPr lang="en-US" sz="1200" dirty="0"/>
          </a:p>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Auth.js</a:t>
            </a:r>
            <a:endParaRPr lang="en-US" sz="1200" dirty="0"/>
          </a:p>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Vitest, by instruction</a:t>
            </a:r>
            <a:endParaRPr lang="en-US" sz="1200" dirty="0"/>
          </a:p>
          <a:p>
            <a:pPr marL="152400" indent="-152400">
              <a:spcAft>
                <a:spcPts val="600"/>
              </a:spcAft>
              <a:buSzPct val="100000"/>
              <a:buChar char="•"/>
            </a:pPr>
            <a:r>
              <a:rPr lang="en-US" sz="1200" dirty="0">
                <a:solidFill>
                  <a:srgbClr val="555555"/>
                </a:solidFill>
                <a:latin typeface="Arial" pitchFamily="34" charset="0"/>
                <a:ea typeface="Arial" pitchFamily="34" charset="-122"/>
                <a:cs typeface="Arial" pitchFamily="34" charset="-120"/>
              </a:rPr>
              <a:t>Playwright and Storybook: P2, planned</a:t>
            </a:r>
            <a:endParaRPr lang="en-US" sz="1200" dirty="0"/>
          </a:p>
        </p:txBody>
      </p:sp>
      <p:sp>
        <p:nvSpPr>
          <p:cNvPr id="14" name="Text 12"/>
          <p:cNvSpPr txBox="1"/>
          <p:nvPr/>
        </p:nvSpPr>
        <p:spPr>
          <a:xfrm>
            <a:off x="10088575" y="6355080"/>
            <a:ext cx="1371600" cy="27432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12 / 19</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731520" y="411480"/>
            <a:ext cx="10728655" cy="274320"/>
          </a:xfrm>
          <a:prstGeom prst="rect">
            <a:avLst/>
          </a:prstGeom>
          <a:noFill/>
          <a:ln/>
        </p:spPr>
        <p:txBody>
          <a:bodyPr wrap="square" lIns="0" tIns="0" rIns="0" bIns="0" rtlCol="0" anchor="t"/>
          <a:lstStyle/>
          <a:p>
            <a:pPr indent="0" marL="0">
              <a:buNone/>
            </a:pPr>
            <a:r>
              <a:rPr lang="en-US" sz="1100" spc="200" kern="0" dirty="0">
                <a:solidFill>
                  <a:srgbClr val="8A8A8A"/>
                </a:solidFill>
                <a:latin typeface="Arial" pitchFamily="34" charset="0"/>
                <a:ea typeface="Arial" pitchFamily="34" charset="-122"/>
                <a:cs typeface="Arial" pitchFamily="34" charset="-120"/>
              </a:rPr>
              <a:t>4 · BUILD VS BUY</a:t>
            </a:r>
            <a:endParaRPr lang="en-US" sz="1100" dirty="0"/>
          </a:p>
        </p:txBody>
      </p:sp>
      <p:sp>
        <p:nvSpPr>
          <p:cNvPr id="3" name="Text 1"/>
          <p:cNvSpPr txBox="1"/>
          <p:nvPr/>
        </p:nvSpPr>
        <p:spPr>
          <a:xfrm>
            <a:off x="731520" y="731520"/>
            <a:ext cx="10728655" cy="731520"/>
          </a:xfrm>
          <a:prstGeom prst="rect">
            <a:avLst/>
          </a:prstGeom>
          <a:noFill/>
          <a:ln/>
        </p:spPr>
        <p:txBody>
          <a:bodyPr wrap="square" lIns="0" tIns="0" rIns="0" bIns="0" rtlCol="0" anchor="ctr"/>
          <a:lstStyle/>
          <a:p>
            <a:pPr indent="0" marL="0">
              <a:buNone/>
            </a:pPr>
            <a:r>
              <a:rPr lang="en-US" sz="2500" b="1" dirty="0">
                <a:solidFill>
                  <a:srgbClr val="1A1A1A"/>
                </a:solidFill>
                <a:latin typeface="Arial" pitchFamily="34" charset="0"/>
                <a:ea typeface="Arial" pitchFamily="34" charset="-122"/>
                <a:cs typeface="Arial" pitchFamily="34" charset="-120"/>
              </a:rPr>
              <a:t>The two deliberate declines, and what would flip each</a:t>
            </a:r>
            <a:endParaRPr lang="en-US" sz="2500" dirty="0"/>
          </a:p>
        </p:txBody>
      </p:sp>
      <p:sp>
        <p:nvSpPr>
          <p:cNvPr id="4" name="Text 2"/>
          <p:cNvSpPr txBox="1"/>
          <p:nvPr/>
        </p:nvSpPr>
        <p:spPr>
          <a:xfrm>
            <a:off x="731520" y="1554480"/>
            <a:ext cx="9357055" cy="685800"/>
          </a:xfrm>
          <a:prstGeom prst="rect">
            <a:avLst/>
          </a:prstGeom>
          <a:noFill/>
          <a:ln/>
        </p:spPr>
        <p:txBody>
          <a:bodyPr wrap="square" lIns="0" tIns="0" rIns="0" bIns="0" rtlCol="0" anchor="t"/>
          <a:lstStyle/>
          <a:p>
            <a:pPr indent="0" marL="0">
              <a:buNone/>
            </a:pPr>
            <a:r>
              <a:rPr lang="en-US" sz="1400" dirty="0">
                <a:solidFill>
                  <a:srgbClr val="555555"/>
                </a:solidFill>
                <a:latin typeface="Arial" pitchFamily="34" charset="0"/>
                <a:ea typeface="Arial" pitchFamily="34" charset="-122"/>
                <a:cs typeface="Arial" pitchFamily="34" charset="-120"/>
              </a:rPr>
              <a:t>Both are the tool I would reach for on a production Aritzia feature. Both lose here for reasons that are specific, not general.</a:t>
            </a:r>
            <a:endParaRPr lang="en-US" sz="1400" dirty="0"/>
          </a:p>
        </p:txBody>
      </p:sp>
      <p:sp>
        <p:nvSpPr>
          <p:cNvPr id="5" name="Text 3"/>
          <p:cNvSpPr txBox="1"/>
          <p:nvPr/>
        </p:nvSpPr>
        <p:spPr>
          <a:xfrm>
            <a:off x="731520" y="2331720"/>
            <a:ext cx="5181448" cy="365760"/>
          </a:xfrm>
          <a:prstGeom prst="rect">
            <a:avLst/>
          </a:prstGeom>
          <a:noFill/>
          <a:ln/>
        </p:spPr>
        <p:txBody>
          <a:bodyPr wrap="square" lIns="0" tIns="0" rIns="0" bIns="0" rtlCol="0" anchor="t"/>
          <a:lstStyle/>
          <a:p>
            <a:pPr indent="0" marL="0">
              <a:buNone/>
            </a:pPr>
            <a:r>
              <a:rPr lang="en-US" sz="1600" b="1" dirty="0">
                <a:solidFill>
                  <a:srgbClr val="1A1A1A"/>
                </a:solidFill>
                <a:latin typeface="Arial" pitchFamily="34" charset="0"/>
                <a:ea typeface="Arial" pitchFamily="34" charset="-122"/>
                <a:cs typeface="Arial" pitchFamily="34" charset="-120"/>
              </a:rPr>
              <a:t>TanStack Query</a:t>
            </a:r>
            <a:endParaRPr lang="en-US" sz="1600" dirty="0"/>
          </a:p>
        </p:txBody>
      </p:sp>
      <p:sp>
        <p:nvSpPr>
          <p:cNvPr id="6" name="Shape 4"/>
          <p:cNvSpPr/>
          <p:nvPr/>
        </p:nvSpPr>
        <p:spPr>
          <a:xfrm>
            <a:off x="731520" y="2743200"/>
            <a:ext cx="5181448" cy="0"/>
          </a:xfrm>
          <a:prstGeom prst="line">
            <a:avLst/>
          </a:prstGeom>
          <a:noFill/>
          <a:ln w="19050">
            <a:solidFill>
              <a:srgbClr val="1A1A1A"/>
            </a:solidFill>
            <a:prstDash val="solid"/>
          </a:ln>
        </p:spPr>
      </p:sp>
      <p:sp>
        <p:nvSpPr>
          <p:cNvPr id="7" name="Text 5"/>
          <p:cNvSpPr txBox="1"/>
          <p:nvPr/>
        </p:nvSpPr>
        <p:spPr>
          <a:xfrm>
            <a:off x="731520" y="2880360"/>
            <a:ext cx="5181448" cy="3337560"/>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rgbClr val="555555"/>
                </a:solidFill>
                <a:latin typeface="Arial" pitchFamily="34" charset="0"/>
                <a:ea typeface="Arial" pitchFamily="34" charset="-122"/>
                <a:cs typeface="Arial" pitchFamily="34" charset="-120"/>
              </a:rPr>
              <a:t>Would give optimistic updates with rollback, retry with backoff, dedup and in-flight state, most of AC-API-6..11, in configuration.</a:t>
            </a:r>
            <a:endParaRPr lang="en-US" sz="1250" dirty="0"/>
          </a:p>
          <a:p>
            <a:pPr marL="152400" indent="-152400">
              <a:spcAft>
                <a:spcPts val="600"/>
              </a:spcAft>
              <a:buSzPct val="100000"/>
              <a:buChar char="•"/>
            </a:pPr>
            <a:r>
              <a:rPr lang="en-US" sz="1250" dirty="0">
                <a:solidFill>
                  <a:srgbClr val="555555"/>
                </a:solidFill>
                <a:latin typeface="Arial" pitchFamily="34" charset="0"/>
                <a:ea typeface="Arial" pitchFamily="34" charset="-122"/>
                <a:cs typeface="Arial" pitchFamily="34" charset="-120"/>
              </a:rPr>
              <a:t>Declined: the mechanism is the deliverable. Delegating it demonstrates knowing the library exists. And it owns a normalised cache, adjacent to the 'no full-fledged store' constraint.</a:t>
            </a:r>
            <a:endParaRPr lang="en-US" sz="1250" dirty="0"/>
          </a:p>
          <a:p>
            <a:pPr marL="152400" indent="-152400">
              <a:spcAft>
                <a:spcPts val="600"/>
              </a:spcAft>
              <a:buSzPct val="100000"/>
              <a:buChar char="•"/>
            </a:pPr>
            <a:r>
              <a:rPr lang="en-US" sz="1250" dirty="0">
                <a:solidFill>
                  <a:srgbClr val="555555"/>
                </a:solidFill>
                <a:latin typeface="Arial" pitchFamily="34" charset="0"/>
                <a:ea typeface="Arial" pitchFamily="34" charset="-122"/>
                <a:cs typeface="Arial" pitchFamily="34" charset="-120"/>
              </a:rPr>
              <a:t>Flips at: a second consumer of the same server data, background refetch or focus revalidation, pagination. This is a two-endpoint app.</a:t>
            </a:r>
            <a:endParaRPr lang="en-US" sz="1250" dirty="0"/>
          </a:p>
        </p:txBody>
      </p:sp>
      <p:sp>
        <p:nvSpPr>
          <p:cNvPr id="8" name="Text 6"/>
          <p:cNvSpPr txBox="1"/>
          <p:nvPr/>
        </p:nvSpPr>
        <p:spPr>
          <a:xfrm>
            <a:off x="6278728" y="2331720"/>
            <a:ext cx="5181448" cy="365760"/>
          </a:xfrm>
          <a:prstGeom prst="rect">
            <a:avLst/>
          </a:prstGeom>
          <a:noFill/>
          <a:ln/>
        </p:spPr>
        <p:txBody>
          <a:bodyPr wrap="square" lIns="0" tIns="0" rIns="0" bIns="0" rtlCol="0" anchor="t"/>
          <a:lstStyle/>
          <a:p>
            <a:pPr indent="0" marL="0">
              <a:buNone/>
            </a:pPr>
            <a:r>
              <a:rPr lang="en-US" sz="1600" b="1" dirty="0">
                <a:solidFill>
                  <a:srgbClr val="1A1A1A"/>
                </a:solidFill>
                <a:latin typeface="Arial" pitchFamily="34" charset="0"/>
                <a:ea typeface="Arial" pitchFamily="34" charset="-122"/>
                <a:cs typeface="Arial" pitchFamily="34" charset="-120"/>
              </a:rPr>
              <a:t>Zustand</a:t>
            </a:r>
            <a:endParaRPr lang="en-US" sz="1600" dirty="0"/>
          </a:p>
        </p:txBody>
      </p:sp>
      <p:sp>
        <p:nvSpPr>
          <p:cNvPr id="9" name="Shape 7"/>
          <p:cNvSpPr/>
          <p:nvPr/>
        </p:nvSpPr>
        <p:spPr>
          <a:xfrm>
            <a:off x="6278728" y="2743200"/>
            <a:ext cx="5181448" cy="0"/>
          </a:xfrm>
          <a:prstGeom prst="line">
            <a:avLst/>
          </a:prstGeom>
          <a:noFill/>
          <a:ln w="19050">
            <a:solidFill>
              <a:srgbClr val="1A1A1A"/>
            </a:solidFill>
            <a:prstDash val="solid"/>
          </a:ln>
        </p:spPr>
      </p:sp>
      <p:sp>
        <p:nvSpPr>
          <p:cNvPr id="10" name="Text 8"/>
          <p:cNvSpPr txBox="1"/>
          <p:nvPr/>
        </p:nvSpPr>
        <p:spPr>
          <a:xfrm>
            <a:off x="6278728" y="2880360"/>
            <a:ext cx="5181448" cy="3337560"/>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rgbClr val="555555"/>
                </a:solidFill>
                <a:latin typeface="Arial" pitchFamily="34" charset="0"/>
                <a:ea typeface="Arial" pitchFamily="34" charset="-122"/>
                <a:cs typeface="Arial" pitchFamily="34" charset="-120"/>
              </a:rPr>
              <a:t>About 30 lines where Context + reducer is 120. Its persist middleware does the localStorage work correctly, hydration timing included.</a:t>
            </a:r>
            <a:endParaRPr lang="en-US" sz="1250" dirty="0"/>
          </a:p>
          <a:p>
            <a:pPr marL="152400" indent="-152400">
              <a:spcAft>
                <a:spcPts val="600"/>
              </a:spcAft>
              <a:buSzPct val="100000"/>
              <a:buChar char="•"/>
            </a:pPr>
            <a:r>
              <a:rPr lang="en-US" sz="1250" dirty="0">
                <a:solidFill>
                  <a:srgbClr val="555555"/>
                </a:solidFill>
                <a:latin typeface="Arial" pitchFamily="34" charset="0"/>
                <a:ea typeface="Arial" pitchFamily="34" charset="-122"/>
                <a:cs typeface="Arial" pitchFamily="34" charset="-120"/>
              </a:rPr>
              <a:t>Declined: the brief forbids a full-fledged store, and reading a requirement precisely is part of what is assessed. Also, a reviewer asking how rollback works should read a reducer, not middleware.</a:t>
            </a:r>
            <a:endParaRPr lang="en-US" sz="1250" dirty="0"/>
          </a:p>
          <a:p>
            <a:pPr marL="152400" indent="-152400">
              <a:spcAft>
                <a:spcPts val="600"/>
              </a:spcAft>
              <a:buSzPct val="100000"/>
              <a:buChar char="•"/>
            </a:pPr>
            <a:r>
              <a:rPr lang="en-US" sz="1250" dirty="0">
                <a:solidFill>
                  <a:srgbClr val="555555"/>
                </a:solidFill>
                <a:latin typeface="Arial" pitchFamily="34" charset="0"/>
                <a:ea typeface="Arial" pitchFamily="34" charset="-122"/>
                <a:cs typeface="Arial" pitchFamily="34" charset="-120"/>
              </a:rPr>
              <a:t>Flips at: high-frequency state across a large tree, state shared across many unrelated routes, or a need for devtools, time-travel, or middleware.</a:t>
            </a:r>
            <a:endParaRPr lang="en-US" sz="1250" dirty="0"/>
          </a:p>
        </p:txBody>
      </p:sp>
      <p:sp>
        <p:nvSpPr>
          <p:cNvPr id="11" name="Text 9"/>
          <p:cNvSpPr txBox="1"/>
          <p:nvPr/>
        </p:nvSpPr>
        <p:spPr>
          <a:xfrm>
            <a:off x="10088575" y="6355080"/>
            <a:ext cx="1371600" cy="27432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13 / 19</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731520" y="411480"/>
            <a:ext cx="10728655" cy="274320"/>
          </a:xfrm>
          <a:prstGeom prst="rect">
            <a:avLst/>
          </a:prstGeom>
          <a:noFill/>
          <a:ln/>
        </p:spPr>
        <p:txBody>
          <a:bodyPr wrap="square" lIns="0" tIns="0" rIns="0" bIns="0" rtlCol="0" anchor="t"/>
          <a:lstStyle/>
          <a:p>
            <a:pPr indent="0" marL="0">
              <a:buNone/>
            </a:pPr>
            <a:r>
              <a:rPr lang="en-US" sz="1100" spc="200" kern="0" dirty="0">
                <a:solidFill>
                  <a:srgbClr val="8A8A8A"/>
                </a:solidFill>
                <a:latin typeface="Arial" pitchFamily="34" charset="0"/>
                <a:ea typeface="Arial" pitchFamily="34" charset="-122"/>
                <a:cs typeface="Arial" pitchFamily="34" charset="-120"/>
              </a:rPr>
              <a:t>4 · BUILD VS BUY</a:t>
            </a:r>
            <a:endParaRPr lang="en-US" sz="1100" dirty="0"/>
          </a:p>
        </p:txBody>
      </p:sp>
      <p:sp>
        <p:nvSpPr>
          <p:cNvPr id="3" name="Text 1"/>
          <p:cNvSpPr txBox="1"/>
          <p:nvPr/>
        </p:nvSpPr>
        <p:spPr>
          <a:xfrm>
            <a:off x="731520" y="731520"/>
            <a:ext cx="10728655" cy="73152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Following the brief where I would argue with it</a:t>
            </a:r>
            <a:endParaRPr lang="en-US" sz="3000" dirty="0"/>
          </a:p>
        </p:txBody>
      </p:sp>
      <p:sp>
        <p:nvSpPr>
          <p:cNvPr id="4" name="Text 2"/>
          <p:cNvSpPr txBox="1"/>
          <p:nvPr/>
        </p:nvSpPr>
        <p:spPr>
          <a:xfrm>
            <a:off x="731520" y="1554480"/>
            <a:ext cx="9357055" cy="685800"/>
          </a:xfrm>
          <a:prstGeom prst="rect">
            <a:avLst/>
          </a:prstGeom>
          <a:noFill/>
          <a:ln/>
        </p:spPr>
        <p:txBody>
          <a:bodyPr wrap="square" lIns="0" tIns="0" rIns="0" bIns="0" rtlCol="0" anchor="t"/>
          <a:lstStyle/>
          <a:p>
            <a:pPr indent="0" marL="0">
              <a:buNone/>
            </a:pPr>
            <a:r>
              <a:rPr lang="en-US" sz="1400" dirty="0">
                <a:solidFill>
                  <a:srgbClr val="555555"/>
                </a:solidFill>
                <a:latin typeface="Arial" pitchFamily="34" charset="0"/>
                <a:ea typeface="Arial" pitchFamily="34" charset="-122"/>
                <a:cs typeface="Arial" pitchFamily="34" charset="-120"/>
              </a:rPr>
              <a:t>sessionStorage auth is what was asked for and not what production should do. The professional move is to do what was asked and make the limits legible, in the ADR and in the running app.</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31520" y="2331720"/>
          <a:ext cx="10728655" cy="914400"/>
        </p:xfrm>
        <a:graphic>
          <a:graphicData uri="http://schemas.openxmlformats.org/drawingml/2006/table">
            <a:tbl>
              <a:tblPr/>
              <a:tblGrid>
                <a:gridCol w="2011680"/>
                <a:gridCol w="4358488"/>
                <a:gridCol w="4358488"/>
              </a:tblGrid>
              <a:tr h="0">
                <a:tc>
                  <a:txBody>
                    <a:bodyPr/>
                    <a:lstStyle/>
                    <a:p>
                      <a:pPr indent="0" marL="0">
                        <a:buNone/>
                      </a:pPr>
                      <a:r>
                        <a:rPr lang="en-US" sz="1000" b="1" spc="100" kern="0" dirty="0">
                          <a:solidFill>
                            <a:srgbClr val="FFFFFF"/>
                          </a:solidFill>
                          <a:latin typeface="Arial" pitchFamily="34" charset="0"/>
                          <a:ea typeface="Arial" pitchFamily="34" charset="-122"/>
                          <a:cs typeface="Arial" pitchFamily="34" charset="-120"/>
                        </a:rPr>
                        <a:t>CONCERN</a:t>
                      </a:r>
                      <a:endParaRPr lang="en-US" sz="10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A1A1A"/>
                    </a:solidFill>
                  </a:tcPr>
                </a:tc>
                <a:tc>
                  <a:txBody>
                    <a:bodyPr/>
                    <a:lstStyle/>
                    <a:p>
                      <a:pPr indent="0" marL="0">
                        <a:buNone/>
                      </a:pPr>
                      <a:r>
                        <a:rPr lang="en-US" sz="1000" b="1" spc="100" kern="0" dirty="0">
                          <a:solidFill>
                            <a:srgbClr val="FFFFFF"/>
                          </a:solidFill>
                          <a:latin typeface="Arial" pitchFamily="34" charset="0"/>
                          <a:ea typeface="Arial" pitchFamily="34" charset="-122"/>
                          <a:cs typeface="Arial" pitchFamily="34" charset="-120"/>
                        </a:rPr>
                        <a:t>HERE, PER BRIEF</a:t>
                      </a:r>
                      <a:endParaRPr lang="en-US" sz="10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A1A1A"/>
                    </a:solidFill>
                  </a:tcPr>
                </a:tc>
                <a:tc>
                  <a:txBody>
                    <a:bodyPr/>
                    <a:lstStyle/>
                    <a:p>
                      <a:pPr indent="0" marL="0">
                        <a:buNone/>
                      </a:pPr>
                      <a:r>
                        <a:rPr lang="en-US" sz="1000" b="1" spc="100" kern="0" dirty="0">
                          <a:solidFill>
                            <a:srgbClr val="FFFFFF"/>
                          </a:solidFill>
                          <a:latin typeface="Arial" pitchFamily="34" charset="0"/>
                          <a:ea typeface="Arial" pitchFamily="34" charset="-122"/>
                          <a:cs typeface="Arial" pitchFamily="34" charset="-120"/>
                        </a:rPr>
                        <a:t>PRODUCTION</a:t>
                      </a:r>
                      <a:endParaRPr lang="en-US" sz="10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1A1A1A"/>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Token storage</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200" dirty="0">
                          <a:solidFill>
                            <a:srgbClr val="555555"/>
                          </a:solidFill>
                          <a:latin typeface="Arial" pitchFamily="34" charset="0"/>
                          <a:ea typeface="Arial" pitchFamily="34" charset="-122"/>
                          <a:cs typeface="Arial" pitchFamily="34" charset="-120"/>
                        </a:rPr>
                        <a:t>sessionStorage</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200" dirty="0">
                          <a:solidFill>
                            <a:srgbClr val="555555"/>
                          </a:solidFill>
                          <a:latin typeface="Arial" pitchFamily="34" charset="0"/>
                          <a:ea typeface="Arial" pitchFamily="34" charset="-122"/>
                          <a:cs typeface="Arial" pitchFamily="34" charset="-120"/>
                        </a:rPr>
                        <a:t>HttpOnly, Secure, SameSite cookie set by the server</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Session validity</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5F5"/>
                    </a:solidFill>
                  </a:tcPr>
                </a:tc>
                <a:tc>
                  <a:txBody>
                    <a:bodyPr/>
                    <a:lstStyle/>
                    <a:p>
                      <a:pPr indent="0" marL="0">
                        <a:buNone/>
                      </a:pPr>
                      <a:r>
                        <a:rPr lang="en-US" sz="1200" dirty="0">
                          <a:solidFill>
                            <a:srgbClr val="555555"/>
                          </a:solidFill>
                          <a:latin typeface="Arial" pitchFamily="34" charset="0"/>
                          <a:ea typeface="Arial" pitchFamily="34" charset="-122"/>
                          <a:cs typeface="Arial" pitchFamily="34" charset="-120"/>
                        </a:rPr>
                        <a:t>Client-side presence check</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5F5"/>
                    </a:solidFill>
                  </a:tcPr>
                </a:tc>
                <a:tc>
                  <a:txBody>
                    <a:bodyPr/>
                    <a:lstStyle/>
                    <a:p>
                      <a:pPr indent="0" marL="0">
                        <a:buNone/>
                      </a:pPr>
                      <a:r>
                        <a:rPr lang="en-US" sz="1200" dirty="0">
                          <a:solidFill>
                            <a:srgbClr val="555555"/>
                          </a:solidFill>
                          <a:latin typeface="Arial" pitchFamily="34" charset="0"/>
                          <a:ea typeface="Arial" pitchFamily="34" charset="-122"/>
                          <a:cs typeface="Arial" pitchFamily="34" charset="-120"/>
                        </a:rPr>
                        <a:t>Server-verified session or short-lived signed token with rotation</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5F5"/>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Route protection</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200" dirty="0">
                          <a:solidFill>
                            <a:srgbClr val="555555"/>
                          </a:solidFill>
                          <a:latin typeface="Arial" pitchFamily="34" charset="0"/>
                          <a:ea typeface="Arial" pitchFamily="34" charset="-122"/>
                          <a:cs typeface="Arial" pitchFamily="34" charset="-120"/>
                        </a:rPr>
                        <a:t>Client guard in the layout, renders nothing until auth is read</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200" dirty="0">
                          <a:solidFill>
                            <a:srgbClr val="555555"/>
                          </a:solidFill>
                          <a:latin typeface="Arial" pitchFamily="34" charset="0"/>
                          <a:ea typeface="Arial" pitchFamily="34" charset="-122"/>
                          <a:cs typeface="Arial" pitchFamily="34" charset="-120"/>
                        </a:rPr>
                        <a:t>Middleware or per-request server check; the client guard stays for UX only</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XSS blast radius</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5F5"/>
                    </a:solidFill>
                  </a:tcPr>
                </a:tc>
                <a:tc>
                  <a:txBody>
                    <a:bodyPr/>
                    <a:lstStyle/>
                    <a:p>
                      <a:pPr indent="0" marL="0">
                        <a:buNone/>
                      </a:pPr>
                      <a:r>
                        <a:rPr lang="en-US" sz="1200" dirty="0">
                          <a:solidFill>
                            <a:srgbClr val="555555"/>
                          </a:solidFill>
                          <a:latin typeface="Arial" pitchFamily="34" charset="0"/>
                          <a:ea typeface="Arial" pitchFamily="34" charset="-122"/>
                          <a:cs typeface="Arial" pitchFamily="34" charset="-120"/>
                        </a:rPr>
                        <a:t>Token readable by any script on the origin</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5F5"/>
                    </a:solidFill>
                  </a:tcPr>
                </a:tc>
                <a:tc>
                  <a:txBody>
                    <a:bodyPr/>
                    <a:lstStyle/>
                    <a:p>
                      <a:pPr indent="0" marL="0">
                        <a:buNone/>
                      </a:pPr>
                      <a:r>
                        <a:rPr lang="en-US" sz="1200" dirty="0">
                          <a:solidFill>
                            <a:srgbClr val="555555"/>
                          </a:solidFill>
                          <a:latin typeface="Arial" pitchFamily="34" charset="0"/>
                          <a:ea typeface="Arial" pitchFamily="34" charset="-122"/>
                          <a:cs typeface="Arial" pitchFamily="34" charset="-120"/>
                        </a:rPr>
                        <a:t>Token unreadable by script; CSP and SRI shrink the surface</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5F5"/>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Test runner</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200" dirty="0">
                          <a:solidFill>
                            <a:srgbClr val="555555"/>
                          </a:solidFill>
                          <a:latin typeface="Arial" pitchFamily="34" charset="0"/>
                          <a:ea typeface="Arial" pitchFamily="34" charset="-122"/>
                          <a:cs typeface="Arial" pitchFamily="34" charset="-120"/>
                        </a:rPr>
                        <a:t>Jest, as named</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200" dirty="0">
                          <a:solidFill>
                            <a:srgbClr val="555555"/>
                          </a:solidFill>
                          <a:latin typeface="Arial" pitchFamily="34" charset="0"/>
                          <a:ea typeface="Arial" pitchFamily="34" charset="-122"/>
                          <a:cs typeface="Arial" pitchFamily="34" charset="-120"/>
                        </a:rPr>
                        <a:t>Vitest would be faster with less configuration; the trade-off is recorded, not overridden</a:t>
                      </a:r>
                      <a:endParaRPr lang="en-US" sz="1200" dirty="0">
                        <a:latin typeface="Arial" charset="0"/>
                        <a:ea typeface="Arial" charset="0"/>
                        <a:cs typeface="Arial" charset="0"/>
                      </a:endParaRPr>
                    </a:p>
                  </a:txBody>
                  <a:tcPr marL="73152" marR="73152" marT="73152" marB="73152" anchor="t">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10088575" y="6355080"/>
            <a:ext cx="1371600" cy="27432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14 / 19</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731520" y="411480"/>
            <a:ext cx="10728655" cy="274320"/>
          </a:xfrm>
          <a:prstGeom prst="rect">
            <a:avLst/>
          </a:prstGeom>
          <a:noFill/>
          <a:ln/>
        </p:spPr>
        <p:txBody>
          <a:bodyPr wrap="square" lIns="0" tIns="0" rIns="0" bIns="0" rtlCol="0" anchor="t"/>
          <a:lstStyle/>
          <a:p>
            <a:pPr indent="0" marL="0">
              <a:buNone/>
            </a:pPr>
            <a:r>
              <a:rPr lang="en-US" sz="1100" spc="200" kern="0" dirty="0">
                <a:solidFill>
                  <a:srgbClr val="8A8A8A"/>
                </a:solidFill>
                <a:latin typeface="Arial" pitchFamily="34" charset="0"/>
                <a:ea typeface="Arial" pitchFamily="34" charset="-122"/>
                <a:cs typeface="Arial" pitchFamily="34" charset="-120"/>
              </a:rPr>
              <a:t>5 · THE LEDGER</a:t>
            </a:r>
            <a:endParaRPr lang="en-US" sz="1100" dirty="0"/>
          </a:p>
        </p:txBody>
      </p:sp>
      <p:sp>
        <p:nvSpPr>
          <p:cNvPr id="3" name="Text 1"/>
          <p:cNvSpPr txBox="1"/>
          <p:nvPr/>
        </p:nvSpPr>
        <p:spPr>
          <a:xfrm>
            <a:off x="731520" y="731520"/>
            <a:ext cx="10728655" cy="73152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What the build actually cost</a:t>
            </a:r>
            <a:endParaRPr lang="en-US" sz="3000" dirty="0"/>
          </a:p>
        </p:txBody>
      </p:sp>
      <p:sp>
        <p:nvSpPr>
          <p:cNvPr id="4" name="Text 2"/>
          <p:cNvSpPr txBox="1"/>
          <p:nvPr/>
        </p:nvSpPr>
        <p:spPr>
          <a:xfrm>
            <a:off x="731520" y="1554480"/>
            <a:ext cx="9357055" cy="685800"/>
          </a:xfrm>
          <a:prstGeom prst="rect">
            <a:avLst/>
          </a:prstGeom>
          <a:noFill/>
          <a:ln/>
        </p:spPr>
        <p:txBody>
          <a:bodyPr wrap="square" lIns="0" tIns="0" rIns="0" bIns="0" rtlCol="0" anchor="t"/>
          <a:lstStyle/>
          <a:p>
            <a:pPr indent="0" marL="0">
              <a:buNone/>
            </a:pPr>
            <a:r>
              <a:rPr lang="en-US" sz="1400" dirty="0">
                <a:solidFill>
                  <a:srgbClr val="555555"/>
                </a:solidFill>
                <a:latin typeface="Arial" pitchFamily="34" charset="0"/>
                <a:ea typeface="Arial" pitchFamily="34" charset="-122"/>
                <a:cs typeface="Arial" pitchFamily="34" charset="-120"/>
              </a:rPr>
              <a:t>API-equivalent cost at published list rates, written per session by a hook from the transcript's usage objects. Not an invoice; every rate is one auditable constant.</a:t>
            </a:r>
            <a:endParaRPr lang="en-US" sz="1400" dirty="0"/>
          </a:p>
        </p:txBody>
      </p:sp>
      <p:sp>
        <p:nvSpPr>
          <p:cNvPr id="5" name="Shape 3"/>
          <p:cNvSpPr/>
          <p:nvPr/>
        </p:nvSpPr>
        <p:spPr>
          <a:xfrm>
            <a:off x="731520" y="2331720"/>
            <a:ext cx="2476424" cy="2286000"/>
          </a:xfrm>
          <a:prstGeom prst="roundRect">
            <a:avLst>
              <a:gd name="adj" fmla="val 4000"/>
            </a:avLst>
          </a:prstGeom>
          <a:solidFill>
            <a:srgbClr val="F5F5F5"/>
          </a:solidFill>
          <a:ln w="12700">
            <a:solidFill>
              <a:srgbClr val="F5F5F5"/>
            </a:solidFill>
            <a:prstDash val="solid"/>
          </a:ln>
        </p:spPr>
      </p:sp>
      <p:sp>
        <p:nvSpPr>
          <p:cNvPr id="6" name="Text 4"/>
          <p:cNvSpPr txBox="1"/>
          <p:nvPr/>
        </p:nvSpPr>
        <p:spPr>
          <a:xfrm>
            <a:off x="960120" y="2606040"/>
            <a:ext cx="2019224" cy="914400"/>
          </a:xfrm>
          <a:prstGeom prst="rect">
            <a:avLst/>
          </a:prstGeom>
          <a:noFill/>
          <a:ln/>
        </p:spPr>
        <p:txBody>
          <a:bodyPr wrap="square" lIns="0" tIns="0" rIns="0" bIns="0" rtlCol="0" anchor="ctr"/>
          <a:lstStyle/>
          <a:p>
            <a:pPr indent="0" marL="0">
              <a:buNone/>
            </a:pPr>
            <a:r>
              <a:rPr lang="en-US" sz="4400" b="1" dirty="0">
                <a:solidFill>
                  <a:srgbClr val="1A1A1A"/>
                </a:solidFill>
                <a:latin typeface="Arial" pitchFamily="34" charset="0"/>
                <a:ea typeface="Arial" pitchFamily="34" charset="-122"/>
                <a:cs typeface="Arial" pitchFamily="34" charset="-120"/>
              </a:rPr>
              <a:t>$232</a:t>
            </a:r>
            <a:endParaRPr lang="en-US" sz="4400" dirty="0"/>
          </a:p>
        </p:txBody>
      </p:sp>
      <p:sp>
        <p:nvSpPr>
          <p:cNvPr id="7" name="Text 5"/>
          <p:cNvSpPr txBox="1"/>
          <p:nvPr/>
        </p:nvSpPr>
        <p:spPr>
          <a:xfrm>
            <a:off x="960120" y="3611880"/>
            <a:ext cx="2019224" cy="822960"/>
          </a:xfrm>
          <a:prstGeom prst="rect">
            <a:avLst/>
          </a:prstGeom>
          <a:noFill/>
          <a:ln/>
        </p:spPr>
        <p:txBody>
          <a:bodyPr wrap="square" lIns="0" tIns="0" rIns="0" bIns="0" rtlCol="0" anchor="t"/>
          <a:lstStyle/>
          <a:p>
            <a:pPr indent="0" marL="0">
              <a:buNone/>
            </a:pPr>
            <a:r>
              <a:rPr lang="en-US" sz="1200" dirty="0">
                <a:solidFill>
                  <a:srgbClr val="555555"/>
                </a:solidFill>
                <a:latin typeface="Arial" pitchFamily="34" charset="0"/>
                <a:ea typeface="Arial" pitchFamily="34" charset="-122"/>
                <a:cs typeface="Arial" pitchFamily="34" charset="-120"/>
              </a:rPr>
              <a:t>26 sessions, all roles, spec to QA</a:t>
            </a:r>
            <a:endParaRPr lang="en-US" sz="1200" dirty="0"/>
          </a:p>
        </p:txBody>
      </p:sp>
      <p:sp>
        <p:nvSpPr>
          <p:cNvPr id="8" name="Shape 6"/>
          <p:cNvSpPr/>
          <p:nvPr/>
        </p:nvSpPr>
        <p:spPr>
          <a:xfrm>
            <a:off x="3482264" y="2331720"/>
            <a:ext cx="2476424" cy="2286000"/>
          </a:xfrm>
          <a:prstGeom prst="roundRect">
            <a:avLst>
              <a:gd name="adj" fmla="val 4000"/>
            </a:avLst>
          </a:prstGeom>
          <a:solidFill>
            <a:srgbClr val="F5F5F5"/>
          </a:solidFill>
          <a:ln w="12700">
            <a:solidFill>
              <a:srgbClr val="F5F5F5"/>
            </a:solidFill>
            <a:prstDash val="solid"/>
          </a:ln>
        </p:spPr>
      </p:sp>
      <p:sp>
        <p:nvSpPr>
          <p:cNvPr id="9" name="Text 7"/>
          <p:cNvSpPr txBox="1"/>
          <p:nvPr/>
        </p:nvSpPr>
        <p:spPr>
          <a:xfrm>
            <a:off x="3710864" y="2606040"/>
            <a:ext cx="2019224" cy="914400"/>
          </a:xfrm>
          <a:prstGeom prst="rect">
            <a:avLst/>
          </a:prstGeom>
          <a:noFill/>
          <a:ln/>
        </p:spPr>
        <p:txBody>
          <a:bodyPr wrap="square" lIns="0" tIns="0" rIns="0" bIns="0" rtlCol="0" anchor="ctr"/>
          <a:lstStyle/>
          <a:p>
            <a:pPr indent="0" marL="0">
              <a:buNone/>
            </a:pPr>
            <a:r>
              <a:rPr lang="en-US" sz="4400" b="1" dirty="0">
                <a:solidFill>
                  <a:srgbClr val="1A1A1A"/>
                </a:solidFill>
                <a:latin typeface="Arial" pitchFamily="34" charset="0"/>
                <a:ea typeface="Arial" pitchFamily="34" charset="-122"/>
                <a:cs typeface="Arial" pitchFamily="34" charset="-120"/>
              </a:rPr>
              <a:t>$70</a:t>
            </a:r>
            <a:endParaRPr lang="en-US" sz="4400" dirty="0"/>
          </a:p>
        </p:txBody>
      </p:sp>
      <p:sp>
        <p:nvSpPr>
          <p:cNvPr id="10" name="Text 8"/>
          <p:cNvSpPr txBox="1"/>
          <p:nvPr/>
        </p:nvSpPr>
        <p:spPr>
          <a:xfrm>
            <a:off x="3710864" y="3611880"/>
            <a:ext cx="2019224" cy="822960"/>
          </a:xfrm>
          <a:prstGeom prst="rect">
            <a:avLst/>
          </a:prstGeom>
          <a:noFill/>
          <a:ln/>
        </p:spPr>
        <p:txBody>
          <a:bodyPr wrap="square" lIns="0" tIns="0" rIns="0" bIns="0" rtlCol="0" anchor="t"/>
          <a:lstStyle/>
          <a:p>
            <a:pPr indent="0" marL="0">
              <a:buNone/>
            </a:pPr>
            <a:r>
              <a:rPr lang="en-US" sz="1200" dirty="0">
                <a:solidFill>
                  <a:srgbClr val="555555"/>
                </a:solidFill>
                <a:latin typeface="Arial" pitchFamily="34" charset="0"/>
                <a:ea typeface="Arial" pitchFamily="34" charset="-122"/>
                <a:cs typeface="Arial" pitchFamily="34" charset="-120"/>
              </a:rPr>
              <a:t>of that was a tooling loop in T-01, found by review, fixed in ARCH-04</a:t>
            </a:r>
            <a:endParaRPr lang="en-US" sz="1200" dirty="0"/>
          </a:p>
        </p:txBody>
      </p:sp>
      <p:sp>
        <p:nvSpPr>
          <p:cNvPr id="11" name="Shape 9"/>
          <p:cNvSpPr/>
          <p:nvPr/>
        </p:nvSpPr>
        <p:spPr>
          <a:xfrm>
            <a:off x="6233008" y="2331720"/>
            <a:ext cx="2476424" cy="2286000"/>
          </a:xfrm>
          <a:prstGeom prst="roundRect">
            <a:avLst>
              <a:gd name="adj" fmla="val 4000"/>
            </a:avLst>
          </a:prstGeom>
          <a:solidFill>
            <a:srgbClr val="F5F5F5"/>
          </a:solidFill>
          <a:ln w="12700">
            <a:solidFill>
              <a:srgbClr val="F5F5F5"/>
            </a:solidFill>
            <a:prstDash val="solid"/>
          </a:ln>
        </p:spPr>
      </p:sp>
      <p:sp>
        <p:nvSpPr>
          <p:cNvPr id="12" name="Text 10"/>
          <p:cNvSpPr txBox="1"/>
          <p:nvPr/>
        </p:nvSpPr>
        <p:spPr>
          <a:xfrm>
            <a:off x="6461608" y="2606040"/>
            <a:ext cx="2019224" cy="914400"/>
          </a:xfrm>
          <a:prstGeom prst="rect">
            <a:avLst/>
          </a:prstGeom>
          <a:noFill/>
          <a:ln/>
        </p:spPr>
        <p:txBody>
          <a:bodyPr wrap="square" lIns="0" tIns="0" rIns="0" bIns="0" rtlCol="0" anchor="ctr"/>
          <a:lstStyle/>
          <a:p>
            <a:pPr indent="0" marL="0">
              <a:buNone/>
            </a:pPr>
            <a:r>
              <a:rPr lang="en-US" sz="4400" b="1" dirty="0">
                <a:solidFill>
                  <a:srgbClr val="1A1A1A"/>
                </a:solidFill>
                <a:latin typeface="Arial" pitchFamily="34" charset="0"/>
                <a:ea typeface="Arial" pitchFamily="34" charset="-122"/>
                <a:cs typeface="Arial" pitchFamily="34" charset="-120"/>
              </a:rPr>
              <a:t>$65</a:t>
            </a:r>
            <a:endParaRPr lang="en-US" sz="4400" dirty="0"/>
          </a:p>
        </p:txBody>
      </p:sp>
      <p:sp>
        <p:nvSpPr>
          <p:cNvPr id="13" name="Text 11"/>
          <p:cNvSpPr txBox="1"/>
          <p:nvPr/>
        </p:nvSpPr>
        <p:spPr>
          <a:xfrm>
            <a:off x="6461608" y="3611880"/>
            <a:ext cx="2019224" cy="822960"/>
          </a:xfrm>
          <a:prstGeom prst="rect">
            <a:avLst/>
          </a:prstGeom>
          <a:noFill/>
          <a:ln/>
        </p:spPr>
        <p:txBody>
          <a:bodyPr wrap="square" lIns="0" tIns="0" rIns="0" bIns="0" rtlCol="0" anchor="t"/>
          <a:lstStyle/>
          <a:p>
            <a:pPr indent="0" marL="0">
              <a:buNone/>
            </a:pPr>
            <a:r>
              <a:rPr lang="en-US" sz="1200" dirty="0">
                <a:solidFill>
                  <a:srgbClr val="555555"/>
                </a:solidFill>
                <a:latin typeface="Arial" pitchFamily="34" charset="0"/>
                <a:ea typeface="Arial" pitchFamily="34" charset="-122"/>
                <a:cs typeface="Arial" pitchFamily="34" charset="-120"/>
              </a:rPr>
              <a:t>the ten Builder tasks that wrote the application, T-02 to T-11</a:t>
            </a:r>
            <a:endParaRPr lang="en-US" sz="1200" dirty="0"/>
          </a:p>
        </p:txBody>
      </p:sp>
      <p:sp>
        <p:nvSpPr>
          <p:cNvPr id="14" name="Shape 12"/>
          <p:cNvSpPr/>
          <p:nvPr/>
        </p:nvSpPr>
        <p:spPr>
          <a:xfrm>
            <a:off x="8983751" y="2331720"/>
            <a:ext cx="2476424" cy="2286000"/>
          </a:xfrm>
          <a:prstGeom prst="roundRect">
            <a:avLst>
              <a:gd name="adj" fmla="val 4000"/>
            </a:avLst>
          </a:prstGeom>
          <a:solidFill>
            <a:srgbClr val="F5F5F5"/>
          </a:solidFill>
          <a:ln w="12700">
            <a:solidFill>
              <a:srgbClr val="F5F5F5"/>
            </a:solidFill>
            <a:prstDash val="solid"/>
          </a:ln>
        </p:spPr>
      </p:sp>
      <p:sp>
        <p:nvSpPr>
          <p:cNvPr id="15" name="Text 13"/>
          <p:cNvSpPr txBox="1"/>
          <p:nvPr/>
        </p:nvSpPr>
        <p:spPr>
          <a:xfrm>
            <a:off x="9212351" y="2606040"/>
            <a:ext cx="2019224" cy="914400"/>
          </a:xfrm>
          <a:prstGeom prst="rect">
            <a:avLst/>
          </a:prstGeom>
          <a:noFill/>
          <a:ln/>
        </p:spPr>
        <p:txBody>
          <a:bodyPr wrap="square" lIns="0" tIns="0" rIns="0" bIns="0" rtlCol="0" anchor="ctr"/>
          <a:lstStyle/>
          <a:p>
            <a:pPr indent="0" marL="0">
              <a:buNone/>
            </a:pPr>
            <a:r>
              <a:rPr lang="en-US" sz="4400" b="1" dirty="0">
                <a:solidFill>
                  <a:srgbClr val="1A1A1A"/>
                </a:solidFill>
                <a:latin typeface="Arial" pitchFamily="34" charset="0"/>
                <a:ea typeface="Arial" pitchFamily="34" charset="-122"/>
                <a:cs typeface="Arial" pitchFamily="34" charset="-120"/>
              </a:rPr>
              <a:t>299</a:t>
            </a:r>
            <a:endParaRPr lang="en-US" sz="4400" dirty="0"/>
          </a:p>
        </p:txBody>
      </p:sp>
      <p:sp>
        <p:nvSpPr>
          <p:cNvPr id="16" name="Text 14"/>
          <p:cNvSpPr txBox="1"/>
          <p:nvPr/>
        </p:nvSpPr>
        <p:spPr>
          <a:xfrm>
            <a:off x="9212351" y="3611880"/>
            <a:ext cx="2019224" cy="822960"/>
          </a:xfrm>
          <a:prstGeom prst="rect">
            <a:avLst/>
          </a:prstGeom>
          <a:noFill/>
          <a:ln/>
        </p:spPr>
        <p:txBody>
          <a:bodyPr wrap="square" lIns="0" tIns="0" rIns="0" bIns="0" rtlCol="0" anchor="t"/>
          <a:lstStyle/>
          <a:p>
            <a:pPr indent="0" marL="0">
              <a:buNone/>
            </a:pPr>
            <a:r>
              <a:rPr lang="en-US" sz="1200" dirty="0">
                <a:solidFill>
                  <a:srgbClr val="555555"/>
                </a:solidFill>
                <a:latin typeface="Arial" pitchFamily="34" charset="0"/>
                <a:ea typeface="Arial" pitchFamily="34" charset="-122"/>
                <a:cs typeface="Arial" pitchFamily="34" charset="-120"/>
              </a:rPr>
              <a:t>Jest tests in 29 suites, every one naming its criterion</a:t>
            </a:r>
            <a:endParaRPr lang="en-US" sz="1200" dirty="0"/>
          </a:p>
        </p:txBody>
      </p:sp>
      <p:sp>
        <p:nvSpPr>
          <p:cNvPr id="17" name="Text 15"/>
          <p:cNvSpPr txBox="1"/>
          <p:nvPr/>
        </p:nvSpPr>
        <p:spPr>
          <a:xfrm>
            <a:off x="731520" y="4983480"/>
            <a:ext cx="9814255" cy="731520"/>
          </a:xfrm>
          <a:prstGeom prst="rect">
            <a:avLst/>
          </a:prstGeom>
          <a:noFill/>
          <a:ln/>
        </p:spPr>
        <p:txBody>
          <a:bodyPr wrap="square" lIns="0" tIns="0" rIns="0" bIns="0" rtlCol="0" anchor="t"/>
          <a:lstStyle/>
          <a:p>
            <a:pPr indent="0" marL="0">
              <a:buNone/>
            </a:pPr>
            <a:r>
              <a:rPr lang="en-US" sz="1150" dirty="0">
                <a:solidFill>
                  <a:srgbClr val="8A8A8A"/>
                </a:solidFill>
                <a:latin typeface="Arial" pitchFamily="34" charset="0"/>
                <a:ea typeface="Arial" pitchFamily="34" charset="-122"/>
                <a:cs typeface="Arial" pitchFamily="34" charset="-120"/>
              </a:rPr>
              <a:t>Cache reads are reported separately and cost 0.025× base input on this model. Quoting a single token total would make a session look an order of magnitude larger than its economics.</a:t>
            </a:r>
            <a:endParaRPr lang="en-US" sz="1150" dirty="0"/>
          </a:p>
        </p:txBody>
      </p:sp>
      <p:sp>
        <p:nvSpPr>
          <p:cNvPr id="18" name="Text 16"/>
          <p:cNvSpPr txBox="1"/>
          <p:nvPr/>
        </p:nvSpPr>
        <p:spPr>
          <a:xfrm>
            <a:off x="10088575" y="6355080"/>
            <a:ext cx="1371600" cy="27432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15 / 19</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731520" y="411480"/>
            <a:ext cx="10728655" cy="274320"/>
          </a:xfrm>
          <a:prstGeom prst="rect">
            <a:avLst/>
          </a:prstGeom>
          <a:noFill/>
          <a:ln/>
        </p:spPr>
        <p:txBody>
          <a:bodyPr wrap="square" lIns="0" tIns="0" rIns="0" bIns="0" rtlCol="0" anchor="t"/>
          <a:lstStyle/>
          <a:p>
            <a:pPr indent="0" marL="0">
              <a:buNone/>
            </a:pPr>
            <a:r>
              <a:rPr lang="en-US" sz="1100" spc="200" kern="0" dirty="0">
                <a:solidFill>
                  <a:srgbClr val="8A8A8A"/>
                </a:solidFill>
                <a:latin typeface="Arial" pitchFamily="34" charset="0"/>
                <a:ea typeface="Arial" pitchFamily="34" charset="-122"/>
                <a:cs typeface="Arial" pitchFamily="34" charset="-120"/>
              </a:rPr>
              <a:t>5 · THE LEDGER</a:t>
            </a:r>
            <a:endParaRPr lang="en-US" sz="1100" dirty="0"/>
          </a:p>
        </p:txBody>
      </p:sp>
      <p:sp>
        <p:nvSpPr>
          <p:cNvPr id="3" name="Text 1"/>
          <p:cNvSpPr txBox="1"/>
          <p:nvPr/>
        </p:nvSpPr>
        <p:spPr>
          <a:xfrm>
            <a:off x="731520" y="731520"/>
            <a:ext cx="10728655" cy="73152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Cost per Builder task, in the order they ran</a:t>
            </a:r>
            <a:endParaRPr lang="en-US" sz="3000" dirty="0"/>
          </a:p>
        </p:txBody>
      </p:sp>
      <p:sp>
        <p:nvSpPr>
          <p:cNvPr id="4" name="Text 2"/>
          <p:cNvSpPr txBox="1"/>
          <p:nvPr/>
        </p:nvSpPr>
        <p:spPr>
          <a:xfrm>
            <a:off x="731520" y="1554480"/>
            <a:ext cx="9357055" cy="685800"/>
          </a:xfrm>
          <a:prstGeom prst="rect">
            <a:avLst/>
          </a:prstGeom>
          <a:noFill/>
          <a:ln/>
        </p:spPr>
        <p:txBody>
          <a:bodyPr wrap="square" lIns="0" tIns="0" rIns="0" bIns="0" rtlCol="0" anchor="t"/>
          <a:lstStyle/>
          <a:p>
            <a:pPr indent="0" marL="0">
              <a:buNone/>
            </a:pPr>
            <a:r>
              <a:rPr lang="en-US" sz="1400" dirty="0">
                <a:solidFill>
                  <a:srgbClr val="555555"/>
                </a:solidFill>
                <a:latin typeface="Arial" pitchFamily="34" charset="0"/>
                <a:ea typeface="Arial" pitchFamily="34" charset="-122"/>
                <a:cs typeface="Arial" pitchFamily="34" charset="-120"/>
              </a:rPr>
              <a:t>Once the loop was fixed, cost tracked task size and little else. The join-point task (T-08, optimistic mutations, the riskiest in the plan) cost $7.82.</a:t>
            </a:r>
            <a:endParaRPr lang="en-US" sz="1400" dirty="0"/>
          </a:p>
        </p:txBody>
      </p:sp>
      <p:graphicFrame>
        <p:nvGraphicFramePr>
          <p:cNvPr id="5" name="Chart 0" descr=""/>
          <p:cNvGraphicFramePr/>
          <p:nvPr/>
        </p:nvGraphicFramePr>
        <p:xfrm>
          <a:off x="731520" y="2331720"/>
          <a:ext cx="10728655" cy="33375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731520" y="5806440"/>
            <a:ext cx="10728655" cy="320040"/>
          </a:xfrm>
          <a:prstGeom prst="rect">
            <a:avLst/>
          </a:prstGeom>
          <a:noFill/>
          <a:ln/>
        </p:spPr>
        <p:txBody>
          <a:bodyPr wrap="square" lIns="0" tIns="0" rIns="0" bIns="0" rtlCol="0" anchor="t"/>
          <a:lstStyle/>
          <a:p>
            <a:pPr indent="0" marL="0">
              <a:buNone/>
            </a:pPr>
            <a:r>
              <a:rPr lang="en-US" sz="1050" dirty="0">
                <a:solidFill>
                  <a:srgbClr val="8A8A8A"/>
                </a:solidFill>
                <a:latin typeface="Arial" pitchFamily="34" charset="0"/>
                <a:ea typeface="Arial" pitchFamily="34" charset="-122"/>
                <a:cs typeface="Arial" pitchFamily="34" charset="-120"/>
              </a:rPr>
              <a:t>* T-01*: scaffold, excluding the $70 loop. Orange marks the join-point task.</a:t>
            </a:r>
            <a:endParaRPr lang="en-US" sz="1050" dirty="0"/>
          </a:p>
        </p:txBody>
      </p:sp>
      <p:sp>
        <p:nvSpPr>
          <p:cNvPr id="7" name="Text 4"/>
          <p:cNvSpPr txBox="1"/>
          <p:nvPr/>
        </p:nvSpPr>
        <p:spPr>
          <a:xfrm>
            <a:off x="10088575" y="6355080"/>
            <a:ext cx="1371600" cy="27432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16 / 19</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731520" y="411480"/>
            <a:ext cx="10728655" cy="274320"/>
          </a:xfrm>
          <a:prstGeom prst="rect">
            <a:avLst/>
          </a:prstGeom>
          <a:noFill/>
          <a:ln/>
        </p:spPr>
        <p:txBody>
          <a:bodyPr wrap="square" lIns="0" tIns="0" rIns="0" bIns="0" rtlCol="0" anchor="t"/>
          <a:lstStyle/>
          <a:p>
            <a:pPr indent="0" marL="0">
              <a:buNone/>
            </a:pPr>
            <a:r>
              <a:rPr lang="en-US" sz="1100" spc="200" kern="0" dirty="0">
                <a:solidFill>
                  <a:srgbClr val="8A8A8A"/>
                </a:solidFill>
                <a:latin typeface="Arial" pitchFamily="34" charset="0"/>
                <a:ea typeface="Arial" pitchFamily="34" charset="-122"/>
                <a:cs typeface="Arial" pitchFamily="34" charset="-120"/>
              </a:rPr>
              <a:t>5 · THE LEDGER</a:t>
            </a:r>
            <a:endParaRPr lang="en-US" sz="1100" dirty="0"/>
          </a:p>
        </p:txBody>
      </p:sp>
      <p:sp>
        <p:nvSpPr>
          <p:cNvPr id="3" name="Text 1"/>
          <p:cNvSpPr txBox="1"/>
          <p:nvPr/>
        </p:nvSpPr>
        <p:spPr>
          <a:xfrm>
            <a:off x="731520" y="731520"/>
            <a:ext cx="10728655" cy="731520"/>
          </a:xfrm>
          <a:prstGeom prst="rect">
            <a:avLst/>
          </a:prstGeom>
          <a:noFill/>
          <a:ln/>
        </p:spPr>
        <p:txBody>
          <a:bodyPr wrap="square" lIns="0" tIns="0" rIns="0" bIns="0" rtlCol="0" anchor="ctr"/>
          <a:lstStyle/>
          <a:p>
            <a:pPr indent="0" marL="0">
              <a:buNone/>
            </a:pPr>
            <a:r>
              <a:rPr lang="en-US" sz="2500" b="1" dirty="0">
                <a:solidFill>
                  <a:srgbClr val="1A1A1A"/>
                </a:solidFill>
                <a:latin typeface="Arial" pitchFamily="34" charset="0"/>
                <a:ea typeface="Arial" pitchFamily="34" charset="-122"/>
                <a:cs typeface="Arial" pitchFamily="34" charset="-120"/>
              </a:rPr>
              <a:t>What the intervention ratio says, and why it is honestly empty</a:t>
            </a:r>
            <a:endParaRPr lang="en-US" sz="2500" dirty="0"/>
          </a:p>
        </p:txBody>
      </p:sp>
      <p:sp>
        <p:nvSpPr>
          <p:cNvPr id="4" name="Text 2"/>
          <p:cNvSpPr txBox="1"/>
          <p:nvPr/>
        </p:nvSpPr>
        <p:spPr>
          <a:xfrm>
            <a:off x="731520" y="1554480"/>
            <a:ext cx="9357055" cy="685800"/>
          </a:xfrm>
          <a:prstGeom prst="rect">
            <a:avLst/>
          </a:prstGeom>
          <a:noFill/>
          <a:ln/>
        </p:spPr>
        <p:txBody>
          <a:bodyPr wrap="square" lIns="0" tIns="0" rIns="0" bIns="0" rtlCol="0" anchor="t"/>
          <a:lstStyle/>
          <a:p>
            <a:pPr indent="0" marL="0">
              <a:buNone/>
            </a:pPr>
            <a:r>
              <a:rPr lang="en-US" sz="1400" dirty="0">
                <a:solidFill>
                  <a:srgbClr val="555555"/>
                </a:solidFill>
                <a:latin typeface="Arial" pitchFamily="34" charset="0"/>
                <a:ea typeface="Arial" pitchFamily="34" charset="-122"/>
                <a:cs typeface="Arial" pitchFamily="34" charset="-120"/>
              </a:rPr>
              <a:t>The ledger has an accepted / edited / rejected column per session. Every Builder row reads '-'. That was a decision, not an omission.</a:t>
            </a:r>
            <a:endParaRPr lang="en-US" sz="1400" dirty="0"/>
          </a:p>
        </p:txBody>
      </p:sp>
      <p:sp>
        <p:nvSpPr>
          <p:cNvPr id="5" name="Shape 3"/>
          <p:cNvSpPr/>
          <p:nvPr/>
        </p:nvSpPr>
        <p:spPr>
          <a:xfrm>
            <a:off x="731520" y="2331720"/>
            <a:ext cx="5250028" cy="1828800"/>
          </a:xfrm>
          <a:prstGeom prst="roundRect">
            <a:avLst>
              <a:gd name="adj" fmla="val 5000"/>
            </a:avLst>
          </a:prstGeom>
          <a:solidFill>
            <a:srgbClr val="F5F5F5"/>
          </a:solidFill>
          <a:ln w="12700">
            <a:solidFill>
              <a:srgbClr val="F5F5F5"/>
            </a:solidFill>
            <a:prstDash val="solid"/>
          </a:ln>
        </p:spPr>
      </p:sp>
      <p:sp>
        <p:nvSpPr>
          <p:cNvPr id="6" name="Text 4"/>
          <p:cNvSpPr txBox="1"/>
          <p:nvPr/>
        </p:nvSpPr>
        <p:spPr>
          <a:xfrm>
            <a:off x="960120" y="2514600"/>
            <a:ext cx="4792828" cy="36576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Why empty</a:t>
            </a:r>
            <a:endParaRPr lang="en-US" sz="1500" dirty="0"/>
          </a:p>
        </p:txBody>
      </p:sp>
      <p:sp>
        <p:nvSpPr>
          <p:cNvPr id="7" name="Text 5"/>
          <p:cNvSpPr txBox="1"/>
          <p:nvPr/>
        </p:nvSpPr>
        <p:spPr>
          <a:xfrm>
            <a:off x="960120" y="2898648"/>
            <a:ext cx="4792828" cy="109728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Counting needs a review pass the operator was not doing: two early PRs merged three minutes after opening with no diff read. A script could have written 1/0/0 on every merged PR and presented a mechanical fact as a quality signal.</a:t>
            </a:r>
            <a:endParaRPr lang="en-US" sz="1250" dirty="0"/>
          </a:p>
        </p:txBody>
      </p:sp>
      <p:sp>
        <p:nvSpPr>
          <p:cNvPr id="8" name="Shape 6"/>
          <p:cNvSpPr/>
          <p:nvPr/>
        </p:nvSpPr>
        <p:spPr>
          <a:xfrm>
            <a:off x="6210148" y="2331720"/>
            <a:ext cx="5250028" cy="1828800"/>
          </a:xfrm>
          <a:prstGeom prst="roundRect">
            <a:avLst>
              <a:gd name="adj" fmla="val 5000"/>
            </a:avLst>
          </a:prstGeom>
          <a:solidFill>
            <a:srgbClr val="F5F5F5"/>
          </a:solidFill>
          <a:ln w="12700">
            <a:solidFill>
              <a:srgbClr val="F5F5F5"/>
            </a:solidFill>
            <a:prstDash val="solid"/>
          </a:ln>
        </p:spPr>
      </p:sp>
      <p:sp>
        <p:nvSpPr>
          <p:cNvPr id="9" name="Text 7"/>
          <p:cNvSpPr txBox="1"/>
          <p:nvPr/>
        </p:nvSpPr>
        <p:spPr>
          <a:xfrm>
            <a:off x="6438748" y="2514600"/>
            <a:ext cx="4792828" cy="36576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The real signal: blockers</a:t>
            </a:r>
            <a:endParaRPr lang="en-US" sz="1500" dirty="0"/>
          </a:p>
        </p:txBody>
      </p:sp>
      <p:sp>
        <p:nvSpPr>
          <p:cNvPr id="10" name="Text 8"/>
          <p:cNvSpPr txBox="1"/>
          <p:nvPr/>
        </p:nvSpPr>
        <p:spPr>
          <a:xfrm>
            <a:off x="6438748" y="2898648"/>
            <a:ext cx="4792828" cy="109728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24 rows in BLOCKERS.md. 15 found by a critic pass before any code, 5 raised by Builders that hit a spec gap mid-build, 1 by QA. Each is a place the spec was wrong, resolved by the Architect in its own commit.</a:t>
            </a:r>
            <a:endParaRPr lang="en-US" sz="1250" dirty="0"/>
          </a:p>
        </p:txBody>
      </p:sp>
      <p:sp>
        <p:nvSpPr>
          <p:cNvPr id="11" name="Shape 9"/>
          <p:cNvSpPr/>
          <p:nvPr/>
        </p:nvSpPr>
        <p:spPr>
          <a:xfrm>
            <a:off x="731520" y="4389120"/>
            <a:ext cx="5250028" cy="1828800"/>
          </a:xfrm>
          <a:prstGeom prst="roundRect">
            <a:avLst>
              <a:gd name="adj" fmla="val 5000"/>
            </a:avLst>
          </a:prstGeom>
          <a:solidFill>
            <a:srgbClr val="F5F5F5"/>
          </a:solidFill>
          <a:ln w="12700">
            <a:solidFill>
              <a:srgbClr val="F5F5F5"/>
            </a:solidFill>
            <a:prstDash val="solid"/>
          </a:ln>
        </p:spPr>
      </p:sp>
      <p:sp>
        <p:nvSpPr>
          <p:cNvPr id="12" name="Text 10"/>
          <p:cNvSpPr txBox="1"/>
          <p:nvPr/>
        </p:nvSpPr>
        <p:spPr>
          <a:xfrm>
            <a:off x="960120" y="4572000"/>
            <a:ext cx="4792828" cy="36576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What that says about the spec</a:t>
            </a:r>
            <a:endParaRPr lang="en-US" sz="1500" dirty="0"/>
          </a:p>
        </p:txBody>
      </p:sp>
      <p:sp>
        <p:nvSpPr>
          <p:cNvPr id="13" name="Text 11"/>
          <p:cNvSpPr txBox="1"/>
          <p:nvPr/>
        </p:nvSpPr>
        <p:spPr>
          <a:xfrm>
            <a:off x="960120" y="4956048"/>
            <a:ext cx="4792828" cy="109728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Builders stopped instead of guessing five times in seventeen tasks. Two were file-ownership gaps, one a missing criterion, one a contract nobody mounted, one a touch-target outside a lane. All cheap to fix because they were named.</a:t>
            </a:r>
            <a:endParaRPr lang="en-US" sz="1250" dirty="0"/>
          </a:p>
        </p:txBody>
      </p:sp>
      <p:sp>
        <p:nvSpPr>
          <p:cNvPr id="14" name="Shape 12"/>
          <p:cNvSpPr/>
          <p:nvPr/>
        </p:nvSpPr>
        <p:spPr>
          <a:xfrm>
            <a:off x="6210148" y="4389120"/>
            <a:ext cx="5250028" cy="1828800"/>
          </a:xfrm>
          <a:prstGeom prst="roundRect">
            <a:avLst>
              <a:gd name="adj" fmla="val 5000"/>
            </a:avLst>
          </a:prstGeom>
          <a:solidFill>
            <a:srgbClr val="F5F5F5"/>
          </a:solidFill>
          <a:ln w="12700">
            <a:solidFill>
              <a:srgbClr val="F5F5F5"/>
            </a:solidFill>
            <a:prstDash val="solid"/>
          </a:ln>
        </p:spPr>
      </p:sp>
      <p:sp>
        <p:nvSpPr>
          <p:cNvPr id="15" name="Text 13"/>
          <p:cNvSpPr txBox="1"/>
          <p:nvPr/>
        </p:nvSpPr>
        <p:spPr>
          <a:xfrm>
            <a:off x="6438748" y="4572000"/>
            <a:ext cx="4792828" cy="36576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Independent QA</a:t>
            </a:r>
            <a:endParaRPr lang="en-US" sz="1500" dirty="0"/>
          </a:p>
        </p:txBody>
      </p:sp>
      <p:sp>
        <p:nvSpPr>
          <p:cNvPr id="16" name="Text 14"/>
          <p:cNvSpPr txBox="1"/>
          <p:nvPr/>
        </p:nvSpPr>
        <p:spPr>
          <a:xfrm>
            <a:off x="6438748" y="4956048"/>
            <a:ext cx="4792828" cy="109728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T-13 ran in a fresh session with no Builder context and walked all 79 criteria: 72 met with a named test, 6 verified manually, 1 open (the real-phone walk, which needs a phone).</a:t>
            </a:r>
            <a:endParaRPr lang="en-US" sz="1250" dirty="0"/>
          </a:p>
        </p:txBody>
      </p:sp>
      <p:sp>
        <p:nvSpPr>
          <p:cNvPr id="17" name="Text 15"/>
          <p:cNvSpPr txBox="1"/>
          <p:nvPr/>
        </p:nvSpPr>
        <p:spPr>
          <a:xfrm>
            <a:off x="10088575" y="6355080"/>
            <a:ext cx="1371600" cy="27432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17 / 19</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731520" y="411480"/>
            <a:ext cx="10728655" cy="274320"/>
          </a:xfrm>
          <a:prstGeom prst="rect">
            <a:avLst/>
          </a:prstGeom>
          <a:noFill/>
          <a:ln/>
        </p:spPr>
        <p:txBody>
          <a:bodyPr wrap="square" lIns="0" tIns="0" rIns="0" bIns="0" rtlCol="0" anchor="t"/>
          <a:lstStyle/>
          <a:p>
            <a:pPr indent="0" marL="0">
              <a:buNone/>
            </a:pPr>
            <a:r>
              <a:rPr lang="en-US" sz="1100" spc="200" kern="0" dirty="0">
                <a:solidFill>
                  <a:srgbClr val="8A8A8A"/>
                </a:solidFill>
                <a:latin typeface="Arial" pitchFamily="34" charset="0"/>
                <a:ea typeface="Arial" pitchFamily="34" charset="-122"/>
                <a:cs typeface="Arial" pitchFamily="34" charset="-120"/>
              </a:rPr>
              <a:t>6 · WHAT I WOULD DO NEXT</a:t>
            </a:r>
            <a:endParaRPr lang="en-US" sz="1100" dirty="0"/>
          </a:p>
        </p:txBody>
      </p:sp>
      <p:sp>
        <p:nvSpPr>
          <p:cNvPr id="3" name="Text 1"/>
          <p:cNvSpPr txBox="1"/>
          <p:nvPr/>
        </p:nvSpPr>
        <p:spPr>
          <a:xfrm>
            <a:off x="731520" y="731520"/>
            <a:ext cx="10728655" cy="73152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Already reasoned, in priority order</a:t>
            </a:r>
            <a:endParaRPr lang="en-US" sz="3000" dirty="0"/>
          </a:p>
        </p:txBody>
      </p:sp>
      <p:sp>
        <p:nvSpPr>
          <p:cNvPr id="4" name="Text 2"/>
          <p:cNvSpPr txBox="1"/>
          <p:nvPr/>
        </p:nvSpPr>
        <p:spPr>
          <a:xfrm>
            <a:off x="731520" y="1554480"/>
            <a:ext cx="9357055" cy="685800"/>
          </a:xfrm>
          <a:prstGeom prst="rect">
            <a:avLst/>
          </a:prstGeom>
          <a:noFill/>
          <a:ln/>
        </p:spPr>
        <p:txBody>
          <a:bodyPr wrap="square" lIns="0" tIns="0" rIns="0" bIns="0" rtlCol="0" anchor="t"/>
          <a:lstStyle/>
          <a:p>
            <a:pPr indent="0" marL="0">
              <a:buNone/>
            </a:pPr>
            <a:r>
              <a:rPr lang="en-US" sz="1400" dirty="0">
                <a:solidFill>
                  <a:srgbClr val="555555"/>
                </a:solidFill>
                <a:latin typeface="Arial" pitchFamily="34" charset="0"/>
                <a:ea typeface="Arial" pitchFamily="34" charset="-122"/>
                <a:cs typeface="Arial" pitchFamily="34" charset="-120"/>
              </a:rPr>
              <a:t>P2 exists so that this question has a concrete answer rather than a shrug.</a:t>
            </a:r>
            <a:endParaRPr lang="en-US" sz="1400" dirty="0"/>
          </a:p>
        </p:txBody>
      </p:sp>
      <p:sp>
        <p:nvSpPr>
          <p:cNvPr id="5" name="Text 3"/>
          <p:cNvSpPr txBox="1"/>
          <p:nvPr/>
        </p:nvSpPr>
        <p:spPr>
          <a:xfrm>
            <a:off x="731520" y="2331720"/>
            <a:ext cx="5181448" cy="365760"/>
          </a:xfrm>
          <a:prstGeom prst="rect">
            <a:avLst/>
          </a:prstGeom>
          <a:noFill/>
          <a:ln/>
        </p:spPr>
        <p:txBody>
          <a:bodyPr wrap="square" lIns="0" tIns="0" rIns="0" bIns="0" rtlCol="0" anchor="t"/>
          <a:lstStyle/>
          <a:p>
            <a:pPr indent="0" marL="0">
              <a:buNone/>
            </a:pPr>
            <a:r>
              <a:rPr lang="en-US" sz="1600" b="1" dirty="0">
                <a:solidFill>
                  <a:srgbClr val="1A1A1A"/>
                </a:solidFill>
                <a:latin typeface="Arial" pitchFamily="34" charset="0"/>
                <a:ea typeface="Arial" pitchFamily="34" charset="-122"/>
                <a:cs typeface="Arial" pitchFamily="34" charset="-120"/>
              </a:rPr>
              <a:t>Next week</a:t>
            </a:r>
            <a:endParaRPr lang="en-US" sz="1600" dirty="0"/>
          </a:p>
        </p:txBody>
      </p:sp>
      <p:sp>
        <p:nvSpPr>
          <p:cNvPr id="6" name="Shape 4"/>
          <p:cNvSpPr/>
          <p:nvPr/>
        </p:nvSpPr>
        <p:spPr>
          <a:xfrm>
            <a:off x="731520" y="2743200"/>
            <a:ext cx="5181448" cy="0"/>
          </a:xfrm>
          <a:prstGeom prst="line">
            <a:avLst/>
          </a:prstGeom>
          <a:noFill/>
          <a:ln w="19050">
            <a:solidFill>
              <a:srgbClr val="1A1A1A"/>
            </a:solidFill>
            <a:prstDash val="solid"/>
          </a:ln>
        </p:spPr>
      </p:sp>
      <p:sp>
        <p:nvSpPr>
          <p:cNvPr id="7" name="Text 5"/>
          <p:cNvSpPr txBox="1"/>
          <p:nvPr/>
        </p:nvSpPr>
        <p:spPr>
          <a:xfrm>
            <a:off x="731520" y="2880360"/>
            <a:ext cx="5181448" cy="3337560"/>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rgbClr val="555555"/>
                </a:solidFill>
                <a:latin typeface="Arial" pitchFamily="34" charset="0"/>
                <a:ea typeface="Arial" pitchFamily="34" charset="-122"/>
                <a:cs typeface="Arial" pitchFamily="34" charset="-120"/>
              </a:rPr>
              <a:t>Playwright smoke for AC-DEP-1, the one open criterion: the full path on a real phone viewport against the deployed URL.</a:t>
            </a:r>
            <a:endParaRPr lang="en-US" sz="1250" dirty="0"/>
          </a:p>
          <a:p>
            <a:pPr marL="152400" indent="-152400">
              <a:spcAft>
                <a:spcPts val="600"/>
              </a:spcAft>
              <a:buSzPct val="100000"/>
              <a:buChar char="•"/>
            </a:pPr>
            <a:r>
              <a:rPr lang="en-US" sz="1250" dirty="0">
                <a:solidFill>
                  <a:srgbClr val="555555"/>
                </a:solidFill>
                <a:latin typeface="Arial" pitchFamily="34" charset="0"/>
                <a:ea typeface="Arial" pitchFamily="34" charset="-122"/>
                <a:cs typeface="Arial" pitchFamily="34" charset="-120"/>
              </a:rPr>
              <a:t>Storybook on the owned component layer. Genuine value at a design-system-led brand; it presents components rather than shipping the app, which is why it waited.</a:t>
            </a:r>
            <a:endParaRPr lang="en-US" sz="1250" dirty="0"/>
          </a:p>
          <a:p>
            <a:pPr marL="152400" indent="-152400">
              <a:spcAft>
                <a:spcPts val="600"/>
              </a:spcAft>
              <a:buSzPct val="100000"/>
              <a:buChar char="•"/>
            </a:pPr>
            <a:r>
              <a:rPr lang="en-US" sz="1250" dirty="0">
                <a:solidFill>
                  <a:srgbClr val="555555"/>
                </a:solidFill>
                <a:latin typeface="Arial" pitchFamily="34" charset="0"/>
                <a:ea typeface="Arial" pitchFamily="34" charset="-122"/>
                <a:cs typeface="Arial" pitchFamily="34" charset="-120"/>
              </a:rPr>
              <a:t>Undo instead of immediate delete (AM-7). The better pattern, named as out of scope rather than omitted silently.</a:t>
            </a:r>
            <a:endParaRPr lang="en-US" sz="1250" dirty="0"/>
          </a:p>
        </p:txBody>
      </p:sp>
      <p:sp>
        <p:nvSpPr>
          <p:cNvPr id="8" name="Text 6"/>
          <p:cNvSpPr txBox="1"/>
          <p:nvPr/>
        </p:nvSpPr>
        <p:spPr>
          <a:xfrm>
            <a:off x="6278728" y="2331720"/>
            <a:ext cx="5181448" cy="365760"/>
          </a:xfrm>
          <a:prstGeom prst="rect">
            <a:avLst/>
          </a:prstGeom>
          <a:noFill/>
          <a:ln/>
        </p:spPr>
        <p:txBody>
          <a:bodyPr wrap="square" lIns="0" tIns="0" rIns="0" bIns="0" rtlCol="0" anchor="t"/>
          <a:lstStyle/>
          <a:p>
            <a:pPr indent="0" marL="0">
              <a:buNone/>
            </a:pPr>
            <a:r>
              <a:rPr lang="en-US" sz="1600" b="1" dirty="0">
                <a:solidFill>
                  <a:srgbClr val="1A1A1A"/>
                </a:solidFill>
                <a:latin typeface="Arial" pitchFamily="34" charset="0"/>
                <a:ea typeface="Arial" pitchFamily="34" charset="-122"/>
                <a:cs typeface="Arial" pitchFamily="34" charset="-120"/>
              </a:rPr>
              <a:t>When the flip conditions arrive</a:t>
            </a:r>
            <a:endParaRPr lang="en-US" sz="1600" dirty="0"/>
          </a:p>
        </p:txBody>
      </p:sp>
      <p:sp>
        <p:nvSpPr>
          <p:cNvPr id="9" name="Shape 7"/>
          <p:cNvSpPr/>
          <p:nvPr/>
        </p:nvSpPr>
        <p:spPr>
          <a:xfrm>
            <a:off x="6278728" y="2743200"/>
            <a:ext cx="5181448" cy="0"/>
          </a:xfrm>
          <a:prstGeom prst="line">
            <a:avLst/>
          </a:prstGeom>
          <a:noFill/>
          <a:ln w="19050">
            <a:solidFill>
              <a:srgbClr val="1A1A1A"/>
            </a:solidFill>
            <a:prstDash val="solid"/>
          </a:ln>
        </p:spPr>
      </p:sp>
      <p:sp>
        <p:nvSpPr>
          <p:cNvPr id="10" name="Text 8"/>
          <p:cNvSpPr txBox="1"/>
          <p:nvPr/>
        </p:nvSpPr>
        <p:spPr>
          <a:xfrm>
            <a:off x="6278728" y="2880360"/>
            <a:ext cx="5181448" cy="3337560"/>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rgbClr val="555555"/>
                </a:solidFill>
                <a:latin typeface="Arial" pitchFamily="34" charset="0"/>
                <a:ea typeface="Arial" pitchFamily="34" charset="-122"/>
                <a:cs typeface="Arial" pitchFamily="34" charset="-120"/>
              </a:rPr>
              <a:t>Token bucket in shared storage (Redis) or at the edge. The in-memory fixed window resets on cold start; stated plainly, not hidden.</a:t>
            </a:r>
            <a:endParaRPr lang="en-US" sz="1250" dirty="0"/>
          </a:p>
          <a:p>
            <a:pPr marL="152400" indent="-152400">
              <a:spcAft>
                <a:spcPts val="600"/>
              </a:spcAft>
              <a:buSzPct val="100000"/>
              <a:buChar char="•"/>
            </a:pPr>
            <a:r>
              <a:rPr lang="en-US" sz="1250" dirty="0">
                <a:solidFill>
                  <a:srgbClr val="555555"/>
                </a:solidFill>
                <a:latin typeface="Arial" pitchFamily="34" charset="0"/>
                <a:ea typeface="Arial" pitchFamily="34" charset="-122"/>
                <a:cs typeface="Arial" pitchFamily="34" charset="-120"/>
              </a:rPr>
              <a:t>HttpOnly cookie sessions with server-side revocation, the moment anything real sits behind the guard.</a:t>
            </a:r>
            <a:endParaRPr lang="en-US" sz="1250" dirty="0"/>
          </a:p>
          <a:p>
            <a:pPr marL="152400" indent="-152400">
              <a:spcAft>
                <a:spcPts val="600"/>
              </a:spcAft>
              <a:buSzPct val="100000"/>
              <a:buChar char="•"/>
            </a:pPr>
            <a:r>
              <a:rPr lang="en-US" sz="1250" dirty="0">
                <a:solidFill>
                  <a:srgbClr val="555555"/>
                </a:solidFill>
                <a:latin typeface="Arial" pitchFamily="34" charset="0"/>
                <a:ea typeface="Arial" pitchFamily="34" charset="-122"/>
                <a:cs typeface="Arial" pitchFamily="34" charset="-120"/>
              </a:rPr>
              <a:t>TanStack Query at the second consumer of server data. packages/ui at the second app. Both seams are already tested.</a:t>
            </a:r>
            <a:endParaRPr lang="en-US" sz="1250" dirty="0"/>
          </a:p>
        </p:txBody>
      </p:sp>
      <p:sp>
        <p:nvSpPr>
          <p:cNvPr id="11" name="Text 9"/>
          <p:cNvSpPr txBox="1"/>
          <p:nvPr/>
        </p:nvSpPr>
        <p:spPr>
          <a:xfrm>
            <a:off x="10088575" y="6355080"/>
            <a:ext cx="1371600" cy="27432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18 / 19</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731520" y="1645920"/>
            <a:ext cx="10728655" cy="1280160"/>
          </a:xfrm>
          <a:prstGeom prst="rect">
            <a:avLst/>
          </a:prstGeom>
          <a:noFill/>
          <a:ln/>
        </p:spPr>
        <p:txBody>
          <a:bodyPr wrap="square" lIns="0" tIns="0" rIns="0" bIns="0" rtlCol="0" anchor="b"/>
          <a:lstStyle/>
          <a:p>
            <a:pPr indent="0" marL="0">
              <a:buNone/>
            </a:pPr>
            <a:r>
              <a:rPr lang="en-US" sz="4000" b="1" dirty="0">
                <a:solidFill>
                  <a:srgbClr val="FFFFFF"/>
                </a:solidFill>
                <a:latin typeface="Arial" pitchFamily="34" charset="0"/>
                <a:ea typeface="Arial" pitchFamily="34" charset="-122"/>
                <a:cs typeface="Arial" pitchFamily="34" charset="-120"/>
              </a:rPr>
              <a:t>Every claim here is a grep away</a:t>
            </a:r>
            <a:endParaRPr lang="en-US" sz="4000" dirty="0"/>
          </a:p>
        </p:txBody>
      </p:sp>
      <p:sp>
        <p:nvSpPr>
          <p:cNvPr id="3" name="Text 1"/>
          <p:cNvSpPr txBox="1"/>
          <p:nvPr/>
        </p:nvSpPr>
        <p:spPr>
          <a:xfrm>
            <a:off x="731520" y="3200400"/>
            <a:ext cx="10728655" cy="1463040"/>
          </a:xfrm>
          <a:prstGeom prst="rect">
            <a:avLst/>
          </a:prstGeom>
          <a:noFill/>
          <a:ln/>
        </p:spPr>
        <p:txBody>
          <a:bodyPr wrap="square" lIns="0" tIns="0" rIns="0" bIns="0" rtlCol="0" anchor="t"/>
          <a:lstStyle/>
          <a:p>
            <a:pPr indent="0" marL="0">
              <a:spcAft>
                <a:spcPts val="600"/>
              </a:spcAft>
              <a:buNone/>
            </a:pPr>
            <a:r>
              <a:rPr lang="en-US" sz="1800" dirty="0">
                <a:solidFill>
                  <a:srgbClr val="FFFFFF"/>
                </a:solidFill>
                <a:latin typeface="Arial" pitchFamily="34" charset="0"/>
                <a:ea typeface="Arial" pitchFamily="34" charset="-122"/>
                <a:cs typeface="Arial" pitchFamily="34" charset="-120"/>
              </a:rPr>
              <a:t>Live: aritzia-task-management.vercel.app</a:t>
            </a:r>
            <a:endParaRPr lang="en-US" sz="1800" dirty="0"/>
          </a:p>
          <a:p>
            <a:pPr indent="0" marL="0">
              <a:spcAft>
                <a:spcPts val="600"/>
              </a:spcAft>
              <a:buNone/>
            </a:pPr>
            <a:r>
              <a:rPr lang="en-US" sz="1400" dirty="0">
                <a:solidFill>
                  <a:srgbClr val="B8B8B8"/>
                </a:solidFill>
                <a:latin typeface="Courier New" pitchFamily="34" charset="0"/>
                <a:ea typeface="Courier New" pitchFamily="34" charset="-122"/>
                <a:cs typeface="Courier New" pitchFamily="34" charset="-120"/>
              </a:rPr>
              <a:t>Repo: github.com/Justinohallo/aritzia-task-management</a:t>
            </a:r>
            <a:endParaRPr lang="en-US" sz="1800" dirty="0"/>
          </a:p>
          <a:p>
            <a:pPr indent="0" marL="0">
              <a:spcAft>
                <a:spcPts val="600"/>
              </a:spcAft>
              <a:buNone/>
            </a:pPr>
            <a:r>
              <a:rPr lang="en-US" sz="1400" dirty="0">
                <a:solidFill>
                  <a:srgbClr val="B8B8B8"/>
                </a:solidFill>
                <a:latin typeface="Courier New" pitchFamily="34" charset="0"/>
                <a:ea typeface="Courier New" pitchFamily="34" charset="-122"/>
                <a:cs typeface="Courier New" pitchFamily="34" charset="-120"/>
              </a:rPr>
              <a:t>docs/ACCEPTANCE.md · docs/adr/ · docs/LEDGER.md · docs/BLOCKERS.md</a:t>
            </a:r>
            <a:endParaRPr lang="en-US" sz="1800" dirty="0"/>
          </a:p>
        </p:txBody>
      </p:sp>
      <p:sp>
        <p:nvSpPr>
          <p:cNvPr id="4" name="Text 2"/>
          <p:cNvSpPr txBox="1"/>
          <p:nvPr/>
        </p:nvSpPr>
        <p:spPr>
          <a:xfrm>
            <a:off x="10088575" y="6355080"/>
            <a:ext cx="1371600" cy="274320"/>
          </a:xfrm>
          <a:prstGeom prst="rect">
            <a:avLst/>
          </a:prstGeom>
          <a:noFill/>
          <a:ln/>
        </p:spPr>
        <p:txBody>
          <a:bodyPr wrap="square" lIns="0" tIns="0" rIns="0" bIns="0" rtlCol="0" anchor="t"/>
          <a:lstStyle/>
          <a:p>
            <a:pPr algn="r" indent="0" marL="0">
              <a:buNone/>
            </a:pPr>
            <a:r>
              <a:rPr lang="en-US" sz="1000" dirty="0">
                <a:solidFill>
                  <a:srgbClr val="B8B8B8"/>
                </a:solidFill>
                <a:latin typeface="Arial" pitchFamily="34" charset="0"/>
                <a:ea typeface="Arial" pitchFamily="34" charset="-122"/>
                <a:cs typeface="Arial" pitchFamily="34" charset="-120"/>
              </a:rPr>
              <a:t>19 / 19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Aritzia Task Management: approach, rationale, AI workflow</dc:title>
  <dc:subject>PptxGenJS Presentation</dc:subject>
  <dc:creator>Justin O'Halloran</dc:creator>
  <cp:lastModifiedBy>Justin O'Halloran</cp:lastModifiedBy>
  <cp:revision>1</cp:revision>
  <dcterms:created xsi:type="dcterms:W3CDTF">2026-09-02T20:17:26Z</dcterms:created>
  <dcterms:modified xsi:type="dcterms:W3CDTF">2026-09-02T20:17:26Z</dcterms:modified>
</cp:coreProperties>
</file>